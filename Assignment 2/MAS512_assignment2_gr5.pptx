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DB5A0-957C-EF65-55D6-0DE102B50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9E2EFA-E5F9-6D4B-FE72-76B62FA1A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F6E6-243F-377A-2C00-4CD83282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11146-8162-8866-E90F-EA094650C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4BCEA-D0FD-9DB8-AFBA-7C5F6B9C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836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72D38-72A4-5BC8-3585-CB0E0A32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66170-7BDB-9652-CD02-23EBFE24C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EC3D-5DFA-3EF9-8843-518F6CDD7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1483-D423-9D5D-D621-5510E8097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8BFED-E221-5A86-F33B-93B63CF84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35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459-2CEE-A5A0-8BCC-8AB04FADE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B0D1-CC8A-EDF0-9AED-FEE518F37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9F103-5F46-FE98-38B7-9741DF90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0913-4482-480B-0A48-23F3BDC3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361B8-B9B6-82BD-5B3A-EFCFD6C0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77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382C0-14B6-EB4A-98DA-CA2FCFCDB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29C6D-80DE-435D-3678-0353EAB204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2B8ADB-035E-6717-A634-8AB6489DA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841128-B01F-BDBD-F0A8-DE7717457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47CE7-DDDE-E271-FE5B-05D547262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2227F-5462-7EC1-E7EF-E3658E8C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92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1DC2-E836-486A-B0A1-BC707DC64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C13B-20D0-0484-96E6-8E0C205ED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33FC5-C11C-10D7-D931-F9ECAC4DD5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846C9-135C-F2B9-15B4-753957E38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735C2-AA45-3B7B-F214-0529EDE74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601FD0-5AF9-308C-F54D-37C2DB0DB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4256FA-E9CC-6733-CB95-AAB1DB7E1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A86FAF-9247-ACEA-A73D-47F3015C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809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BCD4-60DD-908E-77DD-4E0A0EAC5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0F008-8E8C-2FF9-AF30-F42E0ED1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0D7D7D-CC59-5D7C-31B5-EC2807C1A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68F35-4023-42D2-CEE9-C504EDFF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33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42142-8A38-D112-A0E4-9087785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C9DBCC-B910-9D01-380B-6C4FE391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45FA0-A1D9-1FF9-6A4D-DB34BE40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74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83072-D012-E138-D48E-D04913FEE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636A8-0A28-A252-8E31-632CE6175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16EBA-6654-337B-546E-9804B0A5C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7C6B2F-77C0-2550-8D4E-900211923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D8D1C-4D8F-27E2-DC0B-D0F4154CF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F385B-1CB7-9324-9982-62BB815FC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79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806F4-5B20-7C52-F247-09AAE9F5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E159FC-81AF-B089-0B9E-AA42487E8CF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33FD-EDFB-D1F8-80AC-9EBB1B8C6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419F6-FAF5-3000-DDFE-AD782569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2D90E-DFD7-72E4-9108-4290F3AF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B8EB-5986-69D6-05C3-DB5AED702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18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DFE3E-861A-0B3A-3B87-9957D9CC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43097-9EB5-BFB6-1831-21AC271F8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C361C-FA58-83C0-5272-411E065A7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384C5-14D3-F481-9B1E-916F5B3C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D165B-8504-57B7-5EA1-004DD31E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495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7AC21-7693-CD97-3D04-99860BCEC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3B523-EEDF-71E1-BAFF-53D7D8707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64F7E-85F9-45F2-94CC-26F6D5EDA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C3DDA-74B9-B3FF-3703-A511742D6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95084-8407-C311-098A-05731C4C7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806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339853-4E97-3788-5572-D5AFD4162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8978C-6AFE-AB9E-7002-2CFFC9131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4C043-2BC9-0E54-B8DF-EB07416CF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0472-52C5-69D7-8D70-B384BDD48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3711D-0EE4-42B5-72A4-9E0F088A9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79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2569-E8D6-AB19-BF97-816CA1ADA9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5E42D-A931-5429-36AE-77B1B33D3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71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6485A-1B65-7179-B850-366B1048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Q3: Camera-Lidar fusion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C9CA5-DAFE-AE78-3937-E6BD0A9D8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00000" cy="4351338"/>
          </a:xfrm>
        </p:spPr>
        <p:txBody>
          <a:bodyPr/>
          <a:lstStyle/>
          <a:p>
            <a:r>
              <a:rPr sz="2400"/>
              <a:t>KITTI:</a:t>
            </a:r>
          </a:p>
          <a:p>
            <a:pPr lvl="1"/>
            <a:r>
              <a:rPr sz="1800"/>
              <a:t>Open benchmark for autonomous driving, recorded from a car in Karlsruhe</a:t>
            </a:r>
          </a:p>
          <a:p>
            <a:pPr lvl="1"/>
            <a:r>
              <a:rPr sz="1800"/>
              <a:t>Sensors: 2 grayscale + 2 color cameras, Velodyne HDL-64E lidar (64 beams, 10 Hz), GPS/IMU</a:t>
            </a:r>
          </a:p>
          <a:p>
            <a:pPr lvl="1"/>
            <a:r>
              <a:rPr sz="1800"/>
              <a:t>Per frame: image, point cloud, calibration, labels</a:t>
            </a:r>
          </a:p>
          <a:p>
            <a:pPr lvl="1"/>
            <a:r>
              <a:rPr sz="1800"/>
              <a:t>Used here: 3D object detection training set (7481 frames)</a:t>
            </a:r>
          </a:p>
        </p:txBody>
      </p:sp>
      <p:pic>
        <p:nvPicPr>
          <p:cNvPr id="4" name="Picture 3" descr="proj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000" y="2300000"/>
            <a:ext cx="6500000" cy="2164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50000" y="4524136"/>
            <a:ext cx="6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</a:rPr>
              <a:t>Example frame: lidar points colored by distance, projected onto the image</a:t>
            </a:r>
          </a:p>
        </p:txBody>
      </p:sp>
    </p:spTree>
    <p:extLst>
      <p:ext uri="{BB962C8B-B14F-4D97-AF65-F5344CB8AC3E}">
        <p14:creationId xmlns:p14="http://schemas.microsoft.com/office/powerpoint/2010/main" val="504678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Q3: From lidar to image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50000"/>
            <a:ext cx="10515600" cy="3000000"/>
          </a:xfrm>
        </p:spPr>
        <p:txBody>
          <a:bodyPr/>
          <a:lstStyle/>
          <a:p>
            <a:r>
              <a:rPr sz="2000"/>
              <a:t>Camera frame: x right, y down, z forward. Lidar frame: x forward, y left, z up</a:t>
            </a:r>
          </a:p>
          <a:p>
            <a:r>
              <a:rPr sz="2000"/>
              <a:t>Points behind the camera or outside the image are discarded; depth = z in the camera frame</a:t>
            </a:r>
          </a:p>
          <a:p>
            <a:r>
              <a:rPr sz="2000"/>
              <a:t>Camera: color and detail, but no depth. Lidar: accurate depth, but sparse points</a:t>
            </a:r>
          </a:p>
          <a:p>
            <a:r>
              <a:rPr sz="2000"/>
              <a:t>Fusion combines both: each lidar point gets a pixel, each pixel region gets a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1900000"/>
            <a:ext cx="1750000" cy="9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Lidar point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(x, y, z)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48200" y="2220000"/>
            <a:ext cx="32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28200" y="1900000"/>
            <a:ext cx="1750000" cy="9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Tr_velo_to_cam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camera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38200" y="2220000"/>
            <a:ext cx="32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218200" y="1900000"/>
            <a:ext cx="1750000" cy="9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R0_rect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rectification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8200" y="2220000"/>
            <a:ext cx="32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08200" y="1900000"/>
            <a:ext cx="1750000" cy="9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P2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3D → image plane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18200" y="2220000"/>
            <a:ext cx="32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598200" y="1900000"/>
            <a:ext cx="1750000" cy="9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Pixel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(u, v) + depth 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880000"/>
            <a:ext cx="105156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2F5597"/>
                </a:solidFill>
              </a:rPr>
              <a:t>pixel = P2 · R0_rect · Tr_velo_to_cam · lidar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3F1F-5851-8757-4E9B-1EBDCB1E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Q4: Navigation and slip estimation</a:t>
            </a:r>
          </a:p>
        </p:txBody>
      </p:sp>
      <p:pic>
        <p:nvPicPr>
          <p:cNvPr id="5" name="Video 4">
            <a:hlinkClick r:id="" action="ppaction://media"/>
            <a:extLst>
              <a:ext uri="{FF2B5EF4-FFF2-40B4-BE49-F238E27FC236}">
                <a16:creationId xmlns:a16="http://schemas.microsoft.com/office/drawing/2014/main" id="{D3FD42D3-9EFD-EBFE-97FE-8FE58BA7ED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0" y="1790301"/>
            <a:ext cx="5848883" cy="438666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9DF01BB-1F14-E7F6-9C38-E586737C5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0000"/>
            <a:ext cx="5000000" cy="4800000"/>
          </a:xfrm>
        </p:spPr>
        <p:txBody>
          <a:bodyPr/>
          <a:lstStyle/>
          <a:p>
            <a:r>
              <a:rPr sz="2000" dirty="0"/>
              <a:t>Robot: </a:t>
            </a:r>
            <a:r>
              <a:rPr lang="en-US" sz="2000" dirty="0"/>
              <a:t>Rosey (nursing home robot)</a:t>
            </a:r>
            <a:endParaRPr sz="2000" dirty="0"/>
          </a:p>
          <a:p>
            <a:pPr lvl="1"/>
            <a:r>
              <a:rPr sz="1600" dirty="0"/>
              <a:t>Lidar + wheel encoders</a:t>
            </a:r>
          </a:p>
          <a:p>
            <a:pPr>
              <a:spcBef>
                <a:spcPts val="800"/>
              </a:spcBef>
            </a:pPr>
            <a:r>
              <a:rPr sz="2000" dirty="0"/>
              <a:t>Task: drive to the green cylinder</a:t>
            </a:r>
          </a:p>
          <a:p>
            <a:pPr lvl="1"/>
            <a:r>
              <a:rPr sz="1600" dirty="0"/>
              <a:t>Goal found in the lidar scan</a:t>
            </a:r>
          </a:p>
          <a:p>
            <a:pPr lvl="1"/>
            <a:r>
              <a:rPr sz="1600" dirty="0"/>
              <a:t>Obstacles avoided with a free-corridor check</a:t>
            </a:r>
          </a:p>
          <a:p>
            <a:pPr>
              <a:spcBef>
                <a:spcPts val="800"/>
              </a:spcBef>
            </a:pPr>
            <a:r>
              <a:rPr sz="2000" dirty="0"/>
              <a:t>Longitudinal slip</a:t>
            </a:r>
          </a:p>
          <a:p>
            <a:pPr lvl="1"/>
            <a:r>
              <a:rPr sz="1600" dirty="0"/>
              <a:t>s = (</a:t>
            </a:r>
            <a:r>
              <a:rPr sz="1600" dirty="0" err="1"/>
              <a:t>v_enc</a:t>
            </a:r>
            <a:r>
              <a:rPr sz="1600" dirty="0"/>
              <a:t> − </a:t>
            </a:r>
            <a:r>
              <a:rPr sz="1600" dirty="0" err="1"/>
              <a:t>v_x</a:t>
            </a:r>
            <a:r>
              <a:rPr sz="1600" dirty="0"/>
              <a:t>) / </a:t>
            </a:r>
            <a:r>
              <a:rPr sz="1600" dirty="0" err="1"/>
              <a:t>v_x</a:t>
            </a:r>
            <a:r>
              <a:rPr sz="1600" dirty="0"/>
              <a:t>, with </a:t>
            </a:r>
            <a:r>
              <a:rPr sz="1600" dirty="0" err="1"/>
              <a:t>v_enc</a:t>
            </a:r>
            <a:r>
              <a:rPr sz="1600" dirty="0"/>
              <a:t> = </a:t>
            </a:r>
            <a:r>
              <a:rPr sz="1600" dirty="0" err="1"/>
              <a:t>ω·r</a:t>
            </a:r>
            <a:endParaRPr sz="1600" dirty="0"/>
          </a:p>
          <a:p>
            <a:pPr lvl="1"/>
            <a:r>
              <a:rPr sz="1600" dirty="0" err="1"/>
              <a:t>v_x</a:t>
            </a:r>
            <a:r>
              <a:rPr sz="1600" dirty="0"/>
              <a:t> = true speed from the </a:t>
            </a:r>
            <a:r>
              <a:rPr sz="1600" dirty="0" err="1"/>
              <a:t>Webots</a:t>
            </a:r>
            <a:r>
              <a:rPr sz="1600" dirty="0"/>
              <a:t> simulation</a:t>
            </a:r>
          </a:p>
          <a:p>
            <a:pPr>
              <a:spcBef>
                <a:spcPts val="800"/>
              </a:spcBef>
            </a:pPr>
            <a:r>
              <a:rPr sz="2000" dirty="0"/>
              <a:t>Two runs, only friction differs</a:t>
            </a:r>
          </a:p>
          <a:p>
            <a:pPr lvl="1"/>
            <a:r>
              <a:rPr sz="1600" dirty="0"/>
              <a:t>Baseline: Coulomb friction 0.3</a:t>
            </a:r>
          </a:p>
          <a:p>
            <a:pPr lvl="1"/>
            <a:r>
              <a:rPr sz="1600" dirty="0"/>
              <a:t>Low slip: Coulomb friction 0.9</a:t>
            </a:r>
          </a:p>
        </p:txBody>
      </p:sp>
    </p:spTree>
    <p:extLst>
      <p:ext uri="{BB962C8B-B14F-4D97-AF65-F5344CB8AC3E}">
        <p14:creationId xmlns:p14="http://schemas.microsoft.com/office/powerpoint/2010/main" val="1935222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7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6070371-8774-66D8-0A41-BF201078C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000" y="1500000"/>
            <a:ext cx="7300000" cy="27375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4ABA2F4-1B44-D43C-6A92-B4E74C9C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78497" cy="1325563"/>
          </a:xfrm>
        </p:spPr>
        <p:txBody>
          <a:bodyPr/>
          <a:lstStyle/>
          <a:p>
            <a:r>
              <a:rPr lang="en-US" dirty="0"/>
              <a:t>Q4: Slip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83348" y="1650678"/>
            <a:ext cx="4033348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dirty="0"/>
              <a:t>• Baseline (μ = 0.3): slip swings from +22 % to −71 %</a:t>
            </a:r>
          </a:p>
          <a:p>
            <a:pPr>
              <a:spcAft>
                <a:spcPts val="600"/>
              </a:spcAft>
            </a:pPr>
            <a:r>
              <a:rPr sz="1500" dirty="0"/>
              <a:t>• Low slip (μ = 0.9): slip stays near 0 apart from one short braking spike</a:t>
            </a:r>
          </a:p>
          <a:p>
            <a:pPr>
              <a:spcAft>
                <a:spcPts val="600"/>
              </a:spcAft>
            </a:pPr>
            <a:r>
              <a:rPr sz="1500" dirty="0"/>
              <a:t>• With low friction the wheel speed no longer matches the true speed, so encoder odometry is unreliable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167018"/>
              </p:ext>
            </p:extLst>
          </p:nvPr>
        </p:nvGraphicFramePr>
        <p:xfrm>
          <a:off x="838200" y="4650000"/>
          <a:ext cx="105156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Metric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Baseline (μ = 0.3)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Low slip (μ = 0.9)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Time to goal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21.7 s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19.6 s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Mean |slip|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11.9 %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0.7 %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Peak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−71 %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−38 %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Time with |slip| &lt; 5 %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98 %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348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410</Words>
  <Application>Microsoft Office PowerPoint</Application>
  <PresentationFormat>Widescreen</PresentationFormat>
  <Paragraphs>54</Paragraphs>
  <Slides>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Q3: Camera-Lidar fusion</vt:lpstr>
      <vt:lpstr>Q3: From lidar to image</vt:lpstr>
      <vt:lpstr>Q4: Navigation and slip estimation</vt:lpstr>
      <vt:lpstr>Q4: Slip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Steenfeldtgj@gmail.com</dc:creator>
  <cp:lastModifiedBy>Steenfeldtgj@gmail.com</cp:lastModifiedBy>
  <cp:revision>5</cp:revision>
  <dcterms:created xsi:type="dcterms:W3CDTF">2026-10-24T09:43:31Z</dcterms:created>
  <dcterms:modified xsi:type="dcterms:W3CDTF">2026-10-24T11:27:07Z</dcterms:modified>
</cp:coreProperties>
</file>