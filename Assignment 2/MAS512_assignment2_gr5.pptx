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4" r:id="rId6"/>
    <p:sldId id="259" r:id="rId7"/>
    <p:sldId id="266" r:id="rId8"/>
    <p:sldId id="267" r:id="rId9"/>
    <p:sldId id="268" r:id="rId10"/>
    <p:sldId id="269" r:id="rId11"/>
    <p:sldId id="257" r:id="rId12"/>
    <p:sldId id="25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63" y="1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DB5A0-957C-EF65-55D6-0DE102B50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9E2EFA-E5F9-6D4B-FE72-76B62FA1A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F6E6-243F-377A-2C00-4CD83282A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11146-8162-8866-E90F-EA094650C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4BCEA-D0FD-9DB8-AFBA-7C5F6B9C9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836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72D38-72A4-5BC8-3585-CB0E0A320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66170-7BDB-9652-CD02-23EBFE24C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EC3D-5DFA-3EF9-8843-518F6CDD7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1483-D423-9D5D-D621-5510E8097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8BFED-E221-5A86-F33B-93B63CF84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35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2459-2CEE-A5A0-8BCC-8AB04FADE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B0D1-CC8A-EDF0-9AED-FEE518F37B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9F103-5F46-FE98-38B7-9741DF909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80913-4482-480B-0A48-23F3BDC3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361B8-B9B6-82BD-5B3A-EFCFD6C0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77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382C0-14B6-EB4A-98DA-CA2FCFCDB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29C6D-80DE-435D-3678-0353EAB204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2B8ADB-035E-6717-A634-8AB6489DA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841128-B01F-BDBD-F0A8-DE7717457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47CE7-DDDE-E271-FE5B-05D547262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2227F-5462-7EC1-E7EF-E3658E8C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192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41DC2-E836-486A-B0A1-BC707DC64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C13B-20D0-0484-96E6-8E0C205ED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C33FC5-C11C-10D7-D931-F9ECAC4DD5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8846C9-135C-F2B9-15B4-753957E38B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735C2-AA45-3B7B-F214-0529EDE74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601FD0-5AF9-308C-F54D-37C2DB0DB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4256FA-E9CC-6733-CB95-AAB1DB7E1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A86FAF-9247-ACEA-A73D-47F3015C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809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BCD4-60DD-908E-77DD-4E0A0EAC5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A0F008-8E8C-2FF9-AF30-F42E0ED1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0D7D7D-CC59-5D7C-31B5-EC2807C1A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468F35-4023-42D2-CEE9-C504EDFF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33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42142-8A38-D112-A0E4-9087785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C9DBCC-B910-9D01-380B-6C4FE391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45FA0-A1D9-1FF9-6A4D-DB34BE402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74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83072-D012-E138-D48E-D04913FEE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636A8-0A28-A252-8E31-632CE6175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216EBA-6654-337B-546E-9804B0A5C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7C6B2F-77C0-2550-8D4E-900211923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D8D1C-4D8F-27E2-DC0B-D0F4154CF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AF385B-1CB7-9324-9982-62BB815FC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779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806F4-5B20-7C52-F247-09AAE9F5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E159FC-81AF-B089-0B9E-AA42487E8CF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33FD-EDFB-D1F8-80AC-9EBB1B8C69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5419F6-FAF5-3000-DDFE-AD782569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2D90E-DFD7-72E4-9108-4290F3AF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DB8EB-5986-69D6-05C3-DB5AED702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218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DFE3E-861A-0B3A-3B87-9957D9CC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43097-9EB5-BFB6-1831-21AC271F8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C361C-FA58-83C0-5272-411E065A7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D384C5-14D3-F481-9B1E-916F5B3C1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D165B-8504-57B7-5EA1-004DD31E3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495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07AC21-7693-CD97-3D04-99860BCECE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3B523-EEDF-71E1-BAFF-53D7D87071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64F7E-85F9-45F2-94CC-26F6D5EDA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C3DDA-74B9-B3FF-3703-A511742D6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95084-8407-C311-098A-05731C4C7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806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339853-4E97-3788-5572-D5AFD4162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8978C-6AFE-AB9E-7002-2CFFC9131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4C043-2BC9-0E54-B8DF-EB07416CF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0472-52C5-69D7-8D70-B384BDD48C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3711D-0EE4-42B5-72A4-9E0F088A9E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79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2569-E8D6-AB19-BF97-816CA1ADA9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MAS512 Assignment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5E42D-A931-5429-36AE-77B1B33D3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Group 5</a:t>
            </a:r>
          </a:p>
          <a:p>
            <a:r>
              <a:rPr sz="2400"/>
              <a:t>Q3: Camera-Lidar fusion on KITTI</a:t>
            </a:r>
          </a:p>
          <a:p>
            <a:r>
              <a:rPr sz="2400"/>
              <a:t>Q4: Slip estimation with a lidar and wheel encoders</a:t>
            </a:r>
          </a:p>
        </p:txBody>
      </p:sp>
    </p:spTree>
    <p:extLst>
      <p:ext uri="{BB962C8B-B14F-4D97-AF65-F5344CB8AC3E}">
        <p14:creationId xmlns:p14="http://schemas.microsoft.com/office/powerpoint/2010/main" val="2766971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KITTI sensors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801" y="4705647"/>
            <a:ext cx="4810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 dirty="0">
                <a:solidFill>
                  <a:srgbClr val="595959"/>
                </a:solidFill>
              </a:rPr>
              <a:t>KITTI: an open benchmark dataset, recorded from a car driving around </a:t>
            </a:r>
            <a:r>
              <a:rPr lang="en-US" sz="1200" b="0" i="1" dirty="0">
                <a:solidFill>
                  <a:srgbClr val="595959"/>
                </a:solidFill>
              </a:rPr>
              <a:t>in </a:t>
            </a:r>
            <a:r>
              <a:rPr sz="1200" b="0" i="1" dirty="0">
                <a:solidFill>
                  <a:srgbClr val="595959"/>
                </a:solidFill>
              </a:rPr>
              <a:t>Germany</a:t>
            </a:r>
            <a:r>
              <a:rPr lang="en-US" sz="1200" b="0" i="1" dirty="0">
                <a:solidFill>
                  <a:srgbClr val="595959"/>
                </a:solidFill>
              </a:rPr>
              <a:t>. </a:t>
            </a:r>
            <a:r>
              <a:rPr lang="en-US" sz="1200" i="1" dirty="0">
                <a:solidFill>
                  <a:srgbClr val="595959"/>
                </a:solidFill>
              </a:rPr>
              <a:t>Retrieved from: https://www.cvlibs.net/datasets/kitti/</a:t>
            </a:r>
            <a:endParaRPr sz="1200" b="0" i="1" dirty="0">
              <a:solidFill>
                <a:srgbClr val="595959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700000" y="1600000"/>
            <a:ext cx="5200000" cy="2811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Cameras (4): </a:t>
            </a:r>
            <a:r>
              <a:rPr sz="1600" dirty="0"/>
              <a:t>cam0/cam1 grayscale pair, cam2/cam3 color pair</a:t>
            </a:r>
            <a:r>
              <a:rPr lang="en-US" sz="1600" dirty="0"/>
              <a:t>.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Lidar: </a:t>
            </a:r>
            <a:r>
              <a:rPr sz="1600" dirty="0"/>
              <a:t>Velodyne HDL-64E: 64 laser beams, 360° around the car, 10 Hz, </a:t>
            </a:r>
            <a:r>
              <a:rPr lang="en-US" sz="1600" dirty="0"/>
              <a:t>typically 100 000–125 000 points per scan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GPS/IMU: </a:t>
            </a:r>
            <a:r>
              <a:rPr sz="1600" dirty="0"/>
              <a:t>Position and motion of the car (not needed in this task)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Synchronized: </a:t>
            </a:r>
            <a:r>
              <a:rPr sz="1600" dirty="0"/>
              <a:t>The lidar triggers the cameras, so one frame = one moment</a:t>
            </a:r>
          </a:p>
          <a:p>
            <a:pPr>
              <a:spcBef>
                <a:spcPts val="1400"/>
              </a:spcBef>
            </a:pPr>
            <a:r>
              <a:rPr sz="1700" b="1" dirty="0"/>
              <a:t>This task uses cam2 (left color camera) + the lidar</a:t>
            </a:r>
          </a:p>
        </p:txBody>
      </p:sp>
      <p:pic>
        <p:nvPicPr>
          <p:cNvPr id="6" name="Picture 5" descr="The KITTI Vision Benchmark Suite">
            <a:extLst>
              <a:ext uri="{FF2B5EF4-FFF2-40B4-BE49-F238E27FC236}">
                <a16:creationId xmlns:a16="http://schemas.microsoft.com/office/drawing/2014/main" id="{35CD05E5-2864-CA35-18E5-EB45D8997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907" y="1690688"/>
            <a:ext cx="3376955" cy="29123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One frame, two views</a:t>
            </a:r>
          </a:p>
        </p:txBody>
      </p:sp>
      <p:pic>
        <p:nvPicPr>
          <p:cNvPr id="3" name="Picture 2" descr="fig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" y="1550000"/>
            <a:ext cx="6700000" cy="20229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0000" y="3602946"/>
            <a:ext cx="6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595959"/>
                </a:solidFill>
              </a:rPr>
              <a:t>Camera (cam2): what the scene looks like, frame 006942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4250000"/>
            <a:ext cx="67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dirty="0"/>
              <a:t>• Lidar scan = a point cloud: 109 578 points around the whole car, each with x, y, z and reflectance</a:t>
            </a:r>
          </a:p>
          <a:p>
            <a:pPr>
              <a:spcBef>
                <a:spcPts val="500"/>
              </a:spcBef>
            </a:pPr>
            <a:r>
              <a:rPr sz="1500" dirty="0"/>
              <a:t>• Only 18 351 of them (17 %) land inside the camera image: the camera sees forward only</a:t>
            </a:r>
          </a:p>
          <a:p>
            <a:pPr>
              <a:spcBef>
                <a:spcPts val="500"/>
              </a:spcBef>
            </a:pPr>
            <a:r>
              <a:rPr sz="1500" dirty="0"/>
              <a:t>• Camera: color and detail, but no depth. Lidar: depth, but no color</a:t>
            </a:r>
          </a:p>
          <a:p>
            <a:pPr>
              <a:spcBef>
                <a:spcPts val="500"/>
              </a:spcBef>
            </a:pPr>
            <a:r>
              <a:rPr sz="1500" dirty="0"/>
              <a:t>• Both show the same cars, at the same moment</a:t>
            </a:r>
          </a:p>
        </p:txBody>
      </p:sp>
      <p:pic>
        <p:nvPicPr>
          <p:cNvPr id="6" name="Picture 5" descr="fig_b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000" y="1550000"/>
            <a:ext cx="4550000" cy="4087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50000" y="5667676"/>
            <a:ext cx="45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</a:rPr>
              <a:t>Point cloud (velodyne/006942.bin) from above, colored by height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Calibration files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1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Tr_velo_to_cam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lidar →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0" y="1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Says where the lidar sits compared to the camera (about 8 cm above and 27 cm behind it), so lidar points can be moved into the camera's view</a:t>
            </a:r>
          </a:p>
        </p:txBody>
      </p:sp>
      <p:sp>
        <p:nvSpPr>
          <p:cNvPr id="3" name="Rounded Rectangle 3"/>
          <p:cNvSpPr/>
          <p:nvPr/>
        </p:nvSpPr>
        <p:spPr>
          <a:xfrm>
            <a:off x="450000" y="2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R0_rect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small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0" y="2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A tiny rotation that lines the cameras up with each other. It is almost "do nothing"</a:t>
            </a:r>
          </a:p>
        </p:txBody>
      </p:sp>
      <p:sp>
        <p:nvSpPr>
          <p:cNvPr id="9" name="Rounded Rectangle 3"/>
          <p:cNvSpPr/>
          <p:nvPr/>
        </p:nvSpPr>
        <p:spPr>
          <a:xfrm>
            <a:off x="450000" y="3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P2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camera →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0" y="3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Describes the camera itself: the focal length and where the center of the image is. It turns a 3D point into a pixel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" y="4850000"/>
            <a:ext cx="113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2F5597"/>
                </a:solidFill>
              </a:rPr>
              <a:t>Why it matters: </a:t>
            </a:r>
            <a:r>
              <a:rPr sz="1600" dirty="0"/>
              <a:t>without these files a lidar point cannot be placed on the right pixel. Every frame has its own calibration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Labels = ground truth</a:t>
            </a:r>
          </a:p>
        </p:txBody>
      </p:sp>
      <p:pic>
        <p:nvPicPr>
          <p:cNvPr id="3" name="Picture 2" descr="fig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79" y="1545237"/>
            <a:ext cx="6742659" cy="208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3875" y="4104740"/>
            <a:ext cx="696045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dirty="0"/>
              <a:t>• Each frame has a label file: one line per object</a:t>
            </a:r>
          </a:p>
          <a:p>
            <a:pPr>
              <a:spcBef>
                <a:spcPts val="500"/>
              </a:spcBef>
            </a:pPr>
            <a:r>
              <a:rPr sz="1500" dirty="0"/>
              <a:t>• This frame: 13 objects (11 cars, 1 van, 1 cyclist) + 2 </a:t>
            </a:r>
            <a:r>
              <a:rPr sz="1500" dirty="0" err="1"/>
              <a:t>DontCare</a:t>
            </a:r>
            <a:r>
              <a:rPr sz="1500" dirty="0"/>
              <a:t> regions</a:t>
            </a:r>
          </a:p>
          <a:p>
            <a:pPr>
              <a:spcBef>
                <a:spcPts val="500"/>
              </a:spcBef>
            </a:pPr>
            <a:r>
              <a:rPr sz="1500" dirty="0"/>
              <a:t>• Humans marked each object in 2D (box in the image) and 3D (size, position)</a:t>
            </a:r>
          </a:p>
          <a:p>
            <a:pPr>
              <a:spcBef>
                <a:spcPts val="500"/>
              </a:spcBef>
            </a:pPr>
            <a:r>
              <a:rPr sz="1500" dirty="0"/>
              <a:t>• The 3D position gives the true distance, so we can check our lidar estimate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C63CF-87E1-9645-A373-0BE7255DB187}"/>
              </a:ext>
            </a:extLst>
          </p:cNvPr>
          <p:cNvSpPr txBox="1"/>
          <p:nvPr/>
        </p:nvSpPr>
        <p:spPr>
          <a:xfrm>
            <a:off x="450000" y="3602946"/>
            <a:ext cx="67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0" i="1" dirty="0">
                <a:solidFill>
                  <a:srgbClr val="595959"/>
                </a:solidFill>
              </a:rPr>
              <a:t>Frame: </a:t>
            </a:r>
            <a:r>
              <a:rPr sz="1200" b="0" i="1" dirty="0">
                <a:solidFill>
                  <a:srgbClr val="595959"/>
                </a:solidFill>
              </a:rPr>
              <a:t>006942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6485A-1B65-7179-B850-366B1048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Q3: Why fuse camera and lidar?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C9CA5-DAFE-AE78-3937-E6BD0A9D8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000"/>
            <a:ext cx="10515600" cy="2000000"/>
          </a:xfrm>
        </p:spPr>
        <p:txBody>
          <a:bodyPr wrap="square"/>
          <a:lstStyle/>
          <a:p>
            <a:r>
              <a:rPr sz="1900"/>
              <a:t>Goal: know what is around the vehicle and how far away it is</a:t>
            </a:r>
          </a:p>
          <a:p>
            <a:pPr>
              <a:spcBef>
                <a:spcPts val="500"/>
              </a:spcBef>
            </a:pPr>
            <a:r>
              <a:rPr sz="1900"/>
              <a:t>Camera: projects the 3D scene onto a 2D image, so depth is lost (but it shows WHAT: color, shape, class)</a:t>
            </a:r>
          </a:p>
          <a:p>
            <a:pPr>
              <a:spcBef>
                <a:spcPts val="500"/>
              </a:spcBef>
            </a:pPr>
            <a:r>
              <a:rPr sz="1900"/>
              <a:t>Lidar: measures HOW FAR with 3D points, but not what the object is</a:t>
            </a:r>
          </a:p>
          <a:p>
            <a:pPr>
              <a:spcBef>
                <a:spcPts val="500"/>
              </a:spcBef>
            </a:pPr>
            <a:r>
              <a:rPr sz="1900"/>
              <a:t>Fusion links the two: every detected object gets a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200" y="3750000"/>
            <a:ext cx="2950000" cy="11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Camera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WHAT: color, texture, class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no distance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88200" y="3750000"/>
            <a:ext cx="2950000" cy="11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Lidar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WHERE: exact 3D distance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no color, sparse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38200" y="3750000"/>
            <a:ext cx="2950000" cy="1100000"/>
          </a:xfrm>
          <a:prstGeom prst="roundRect">
            <a:avLst/>
          </a:prstGeom>
          <a:solidFill>
            <a:srgbClr val="DDEEDD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Fusion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WHAT and HOW FAR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object + 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8200" y="3980000"/>
            <a:ext cx="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F5597"/>
                </a:solidFill>
              </a:rPr>
              <a:t>+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88200" y="4170000"/>
            <a:ext cx="70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04678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Q3(b)(i): Lidar and camera, both ways</a:t>
            </a:r>
          </a:p>
        </p:txBody>
      </p:sp>
      <p:pic>
        <p:nvPicPr>
          <p:cNvPr id="3" name="Picture 2" descr="proj1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500000"/>
            <a:ext cx="7500000" cy="2497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0000" y="4030000"/>
            <a:ext cx="7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Lidar projected onto the camera image (frame 001100), color = distance z</a:t>
            </a:r>
          </a:p>
        </p:txBody>
      </p:sp>
      <p:pic>
        <p:nvPicPr>
          <p:cNvPr id="5" name="Picture 4" descr="bev1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0000" y="1450000"/>
            <a:ext cx="3847747" cy="3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5370000"/>
            <a:ext cx="3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Vice versa: lidar points colored with the image colors, seen from above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00" y="4400000"/>
            <a:ext cx="75000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Lidar → image: </a:t>
            </a:r>
            <a:r>
              <a:rPr sz="1400" b="0" i="0" dirty="0"/>
              <a:t>every 3D point goes through </a:t>
            </a:r>
            <a:r>
              <a:rPr sz="1400" b="0" i="0" dirty="0" err="1"/>
              <a:t>Tr_velo_to_cam</a:t>
            </a:r>
            <a:r>
              <a:rPr sz="1400" b="0" i="0" dirty="0"/>
              <a:t>, R0_rect and P2 and lands on a pixel. Near points are blue, far points are red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Image → lidar: </a:t>
            </a:r>
            <a:r>
              <a:rPr sz="1400" b="0" i="0" dirty="0"/>
              <a:t>the same pixel gives the point its color. Because the calibration is correct, the colors fit the shapes: cars, trees and the building wall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Q3(b): How we measure the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Project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lidar → pixels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6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3"/>
          <p:cNvSpPr/>
          <p:nvPr/>
        </p:nvSpPr>
        <p:spPr>
          <a:xfrm>
            <a:off x="340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Detect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YOLO boxes</a:t>
            </a:r>
          </a:p>
        </p:txBody>
      </p:sp>
      <p:sp>
        <p:nvSpPr>
          <p:cNvPr id="8" name="Right Arrow 4"/>
          <p:cNvSpPr/>
          <p:nvPr/>
        </p:nvSpPr>
        <p:spPr>
          <a:xfrm>
            <a:off x="591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4"/>
          <p:cNvSpPr/>
          <p:nvPr/>
        </p:nvSpPr>
        <p:spPr>
          <a:xfrm>
            <a:off x="886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3"/>
          <p:cNvSpPr/>
          <p:nvPr/>
        </p:nvSpPr>
        <p:spPr>
          <a:xfrm>
            <a:off x="635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Cluster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DBSCAN per box</a:t>
            </a:r>
          </a:p>
        </p:txBody>
      </p:sp>
      <p:sp>
        <p:nvSpPr>
          <p:cNvPr id="11" name="Rounded Rectangle 3"/>
          <p:cNvSpPr/>
          <p:nvPr/>
        </p:nvSpPr>
        <p:spPr>
          <a:xfrm>
            <a:off x="930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Distance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center of the object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" y="3039785"/>
            <a:ext cx="670000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Detect (YOLO): </a:t>
            </a:r>
            <a:r>
              <a:rPr lang="en-US" sz="1400" b="0" dirty="0"/>
              <a:t>We </a:t>
            </a:r>
            <a:r>
              <a:rPr lang="en-US" sz="1400" dirty="0"/>
              <a:t>used YOLO, </a:t>
            </a:r>
            <a:r>
              <a:rPr lang="en-US" sz="1400" b="0" dirty="0"/>
              <a:t>which </a:t>
            </a:r>
            <a:r>
              <a:rPr sz="1400" b="0" dirty="0"/>
              <a:t>gives boxes, classes and confidence. We keep cars, trucks, people and cyclists with confidence ≥ 0.4. We use it as it is, without training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Cluster: </a:t>
            </a:r>
            <a:r>
              <a:rPr sz="1400" b="0" dirty="0"/>
              <a:t>inside each YOLO box, the lidar points that lie close together (DBSCAN) form one object. Points on the wall behind the car form another cluster and are ignored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Distance: </a:t>
            </a:r>
            <a:r>
              <a:rPr sz="1400" b="0" dirty="0"/>
              <a:t>the middle of the cluster gives the distance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0000" y="2900000"/>
            <a:ext cx="43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5597"/>
                </a:solidFill>
              </a:rPr>
              <a:t>Example: the car at 26.2 m</a:t>
            </a:r>
          </a:p>
          <a:p>
            <a:pPr>
              <a:spcAft>
                <a:spcPts val="800"/>
              </a:spcAft>
            </a:pPr>
            <a:r>
              <a:rPr sz="1500" b="0"/>
              <a:t>Label: 26.2 m</a:t>
            </a:r>
          </a:p>
          <a:p>
            <a:pPr>
              <a:spcAft>
                <a:spcPts val="800"/>
              </a:spcAft>
            </a:pPr>
            <a:r>
              <a:rPr sz="1500" b="0"/>
              <a:t>Lidar estimate: 24.3 m</a:t>
            </a:r>
          </a:p>
          <a:p>
            <a:pPr>
              <a:spcAft>
                <a:spcPts val="800"/>
              </a:spcAft>
            </a:pPr>
            <a:r>
              <a:rPr sz="1500" b="0"/>
              <a:t>Difference −1.9 m ≈ half the car length (4.08 m / 2)</a:t>
            </a:r>
          </a:p>
          <a:p>
            <a:pPr>
              <a:spcAft>
                <a:spcPts val="800"/>
              </a:spcAft>
            </a:pPr>
            <a:r>
              <a:rPr sz="1500" b="0"/>
              <a:t>Lidar hits the back of the car, the label marks its center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Q3(b)(ii): Detection + lidar distance</a:t>
            </a:r>
          </a:p>
        </p:txBody>
      </p:sp>
      <p:pic>
        <p:nvPicPr>
          <p:cNvPr id="3" name="Picture 2" descr="det1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500000"/>
            <a:ext cx="7300000" cy="2426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0000" y="3960000"/>
            <a:ext cx="7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YOLO boxes, color and label = lidar distance (frame 001100)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0" y="537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DBSCAN clusters (colors) with centroids (×), top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00" y="4350000"/>
            <a:ext cx="73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Boxes: </a:t>
            </a:r>
            <a:r>
              <a:rPr sz="1400" b="0" i="0" dirty="0"/>
              <a:t>YOLO finds 7 cars, a bicycle and a person; each box gets the distance of its lidar cluster, e.g. 8.0 m for the nearest car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Clusters: </a:t>
            </a:r>
            <a:r>
              <a:rPr sz="1400" b="0" i="0" dirty="0"/>
              <a:t>inside each box the lidar points that lie close together form one cluster. The centroid (×) gives the distance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Far objects: </a:t>
            </a:r>
            <a:r>
              <a:rPr sz="1400" b="0" i="0" dirty="0"/>
              <a:t>a car at 46.5 m has only 9 lidar points, but it is still found (error −0.55 m)</a:t>
            </a:r>
          </a:p>
        </p:txBody>
      </p:sp>
      <p:pic>
        <p:nvPicPr>
          <p:cNvPr id="8" name="Picture 7" descr="fusion_001100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000" y="1450000"/>
            <a:ext cx="3838396" cy="39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Q3(b)(iii):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00000" y="1500000"/>
          <a:ext cx="580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sz="1300"/>
                        <a:t>Metric (25 objects, 5 frames)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Mean absolute error (MAE)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1.11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1.40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Bias (estimate − label)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−1.09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8.0 %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Within 1 m / within 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14 / 22 of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Negative 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 of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00000" y="4150000"/>
            <a:ext cx="58000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Small objects: </a:t>
            </a:r>
            <a:r>
              <a:rPr sz="1300" b="0" i="0" dirty="0"/>
              <a:t>person −0.06 m, cyclist +0.01 m, because they are thin</a:t>
            </a:r>
          </a:p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Worst case: </a:t>
            </a:r>
            <a:r>
              <a:rPr sz="1300" b="0" i="0" dirty="0"/>
              <a:t>−3.2 m, a car with a poor box match 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Limit: </a:t>
            </a:r>
            <a:r>
              <a:rPr sz="1300" b="0" i="0" dirty="0"/>
              <a:t>we only validate objects that YOLO found (recall is not 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000" y="550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Points below the dashed line: lidar closer than the label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450000"/>
            <a:ext cx="3877214" cy="40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3F1F-5851-8757-4E9B-1EBDCB1E0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Q4: Navigation and slip estimation</a:t>
            </a:r>
          </a:p>
        </p:txBody>
      </p:sp>
      <p:pic>
        <p:nvPicPr>
          <p:cNvPr id="5" name="Video 4">
            <a:hlinkClick r:id="" action="ppaction://media"/>
            <a:extLst>
              <a:ext uri="{FF2B5EF4-FFF2-40B4-BE49-F238E27FC236}">
                <a16:creationId xmlns:a16="http://schemas.microsoft.com/office/drawing/2014/main" id="{D3FD42D3-9EFD-EBFE-97FE-8FE58BA7ED1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0" y="1790301"/>
            <a:ext cx="5848883" cy="43866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79DF01BB-1F14-E7F6-9C38-E586737C5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0000"/>
                <a:ext cx="5000000" cy="4800000"/>
              </a:xfrm>
            </p:spPr>
            <p:txBody>
              <a:bodyPr/>
              <a:lstStyle/>
              <a:p>
                <a:r>
                  <a:rPr lang="en-US" sz="2000" dirty="0"/>
                  <a:t>Robot: Rosey, differential drive</a:t>
                </a:r>
              </a:p>
              <a:p>
                <a:pPr lvl="1"/>
                <a:r>
                  <a:rPr lang="en-US" sz="1600" dirty="0"/>
                  <a:t>Lidar + wheel encoders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Task: drive to the green cylinder</a:t>
                </a:r>
              </a:p>
              <a:p>
                <a:pPr lvl="1"/>
                <a:r>
                  <a:rPr lang="en-US" sz="1600" dirty="0"/>
                  <a:t>Goal found in the lidar scan</a:t>
                </a:r>
              </a:p>
              <a:p>
                <a:pPr lvl="1"/>
                <a:r>
                  <a:rPr lang="en-US" sz="1600" dirty="0"/>
                  <a:t>Obstacles avoided with a free-corridor check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Longitudinal slip</a:t>
                </a:r>
              </a:p>
              <a:p>
                <a:pPr lvl="1">
                  <a:spcBef>
                    <a:spcPts val="800"/>
                  </a:spcBef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𝑒𝑛𝑐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𝑒𝑛𝑐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16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1600" dirty="0"/>
                  <a:t>true speed from the </a:t>
                </a:r>
                <a:r>
                  <a:rPr lang="en-US" sz="1600" dirty="0" err="1"/>
                  <a:t>Webots</a:t>
                </a:r>
                <a:r>
                  <a:rPr lang="en-US" sz="1600" dirty="0"/>
                  <a:t> simulation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Two runs, only friction differs</a:t>
                </a:r>
              </a:p>
              <a:p>
                <a:pPr lvl="1"/>
                <a:r>
                  <a:rPr lang="en-US" sz="1600" dirty="0"/>
                  <a:t>Baseline: Coulomb friction 0.3</a:t>
                </a:r>
              </a:p>
              <a:p>
                <a:pPr lvl="1"/>
                <a:r>
                  <a:rPr lang="en-US" sz="1600" dirty="0"/>
                  <a:t>Low slip: Coulomb friction 0.9</a:t>
                </a:r>
                <a:endParaRPr sz="1600" dirty="0"/>
              </a:p>
            </p:txBody>
          </p:sp>
        </mc:Choice>
        <mc:Fallback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79DF01BB-1F14-E7F6-9C38-E586737C53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0000"/>
                <a:ext cx="5000000" cy="4800000"/>
              </a:xfrm>
              <a:blipFill>
                <a:blip r:embed="rId5"/>
                <a:stretch>
                  <a:fillRect l="-1098" t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222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72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6070371-8774-66D8-0A41-BF201078C8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000" y="1500000"/>
            <a:ext cx="7300000" cy="27375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4ABA2F4-1B44-D43C-6A92-B4E74C9C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78497" cy="1325563"/>
          </a:xfrm>
        </p:spPr>
        <p:txBody>
          <a:bodyPr/>
          <a:lstStyle/>
          <a:p>
            <a:r>
              <a:rPr lang="en-US" dirty="0"/>
              <a:t>Q4: Slip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0" y="1500000"/>
            <a:ext cx="3900000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• Baseline (μ = 0.3): slip swings from +22 % to −71 %, mostly when the robot brakes for the target</a:t>
            </a:r>
          </a:p>
          <a:p>
            <a:pPr>
              <a:spcAft>
                <a:spcPts val="600"/>
              </a:spcAft>
            </a:pPr>
            <a:r>
              <a:rPr sz="1500"/>
              <a:t>• Low slip (μ = 0.9): slip stays near 0 apart from one short braking spike</a:t>
            </a:r>
          </a:p>
          <a:p>
            <a:pPr>
              <a:spcAft>
                <a:spcPts val="600"/>
              </a:spcAft>
            </a:pPr>
            <a:r>
              <a:rPr sz="1500"/>
              <a:t>• With low friction the wheel speed no longer matches the true speed, so encoder odometry is unreliable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" y="4650000"/>
          <a:ext cx="105156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Metric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Baseline (μ = 0.3)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Low slip (μ = 0.9)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Time to goal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21.7 s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19.6 s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Mean slip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−8.3 %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−0.6 %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Mean |slip|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11.9 %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0.7 %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Peak slip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−71 %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−38 %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Time with |slip| &lt; 5 %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98 %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2348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2327</TotalTime>
  <Words>1249</Words>
  <Application>Microsoft Office PowerPoint</Application>
  <PresentationFormat>Widescreen</PresentationFormat>
  <Paragraphs>131</Paragraphs>
  <Slides>12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MAS512 Assignment 2</vt:lpstr>
      <vt:lpstr>Q3(a): KITTI sensors</vt:lpstr>
      <vt:lpstr>Q3(a): One frame, two views</vt:lpstr>
      <vt:lpstr>Q3(a): Calibration files</vt:lpstr>
      <vt:lpstr>Q3(a): Labels = ground truth</vt:lpstr>
      <vt:lpstr>Q3: Why fuse camera and lidar?</vt:lpstr>
      <vt:lpstr>Q3(b)(i): Lidar and camera, both ways</vt:lpstr>
      <vt:lpstr>Q3(b): How we measure the distance</vt:lpstr>
      <vt:lpstr>Q3(b)(ii): Detection + lidar distance</vt:lpstr>
      <vt:lpstr>Q3(b)(iii): Validation</vt:lpstr>
      <vt:lpstr>Q4: Navigation and slip estimation</vt:lpstr>
      <vt:lpstr>Q4: Slip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Steenfeldtgj@gmail.com</dc:creator>
  <cp:lastModifiedBy>Sebastian Steenfeldt-Gjersøe</cp:lastModifiedBy>
  <cp:revision>9</cp:revision>
  <dcterms:created xsi:type="dcterms:W3CDTF">2026-10-24T09:43:31Z</dcterms:created>
  <dcterms:modified xsi:type="dcterms:W3CDTF">2026-10-26T09:07:15Z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2026-10-24T19:33:22Z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404bb754-58de-4d83-8af7-729a416d426c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</Properties>
</file>