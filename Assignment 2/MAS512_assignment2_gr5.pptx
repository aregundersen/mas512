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0" r:id="rId3"/>
    <p:sldId id="271" r:id="rId4"/>
    <p:sldId id="272" r:id="rId5"/>
    <p:sldId id="273" r:id="rId6"/>
    <p:sldId id="274" r:id="rId7"/>
    <p:sldId id="275" r:id="rId8"/>
    <p:sldId id="276" r:id="rId9"/>
    <p:sldId id="277" r:id="rId10"/>
    <p:sldId id="278" r:id="rId11"/>
    <p:sldId id="279" r:id="rId12"/>
    <p:sldId id="280" r:id="rId13"/>
    <p:sldId id="281" r:id="rId14"/>
    <p:sldId id="261" r:id="rId15"/>
    <p:sldId id="262" r:id="rId16"/>
    <p:sldId id="263" r:id="rId17"/>
    <p:sldId id="264" r:id="rId18"/>
    <p:sldId id="259" r:id="rId19"/>
    <p:sldId id="266" r:id="rId20"/>
    <p:sldId id="267" r:id="rId21"/>
    <p:sldId id="268" r:id="rId22"/>
    <p:sldId id="269" r:id="rId23"/>
    <p:sldId id="257" r:id="rId24"/>
    <p:sldId id="258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DB5A0-957C-EF65-55D6-0DE102B505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9E2EFA-E5F9-6D4B-FE72-76B62FA1A3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DDF6E6-243F-377A-2C00-4CD83282A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65B74-A400-4856-B310-A4D8CF2D0A9D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711146-8162-8866-E90F-EA094650C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D4BCEA-D0FD-9DB8-AFBA-7C5F6B9C9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E37FF-EB02-447B-A054-0F9104982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836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72D38-72A4-5BC8-3585-CB0E0A320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F66170-7BDB-9652-CD02-23EBFE24C4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82EC3D-5DFA-3EF9-8843-518F6CDD7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65B74-A400-4856-B310-A4D8CF2D0A9D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361483-D423-9D5D-D621-5510E8097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48BFED-E221-5A86-F33B-93B63CF84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E37FF-EB02-447B-A054-0F9104982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355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C2459-2CEE-A5A0-8BCC-8AB04FADE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E1B0D1-CC8A-EDF0-9AED-FEE518F37B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C9F103-5F46-FE98-38B7-9741DF909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65B74-A400-4856-B310-A4D8CF2D0A9D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080913-4482-480B-0A48-23F3BDC3A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361B8-B9B6-82BD-5B3A-EFCFD6C06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E37FF-EB02-447B-A054-0F9104982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771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382C0-14B6-EB4A-98DA-CA2FCFCDB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329C6D-80DE-435D-3678-0353EAB204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2B8ADB-035E-6717-A634-8AB6489DAA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841128-B01F-BDBD-F0A8-DE7717457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65B74-A400-4856-B310-A4D8CF2D0A9D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D47CE7-DDDE-E271-FE5B-05D547262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32227F-5462-7EC1-E7EF-E3658E8C3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E37FF-EB02-447B-A054-0F9104982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192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41DC2-E836-486A-B0A1-BC707DC64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54C13B-20D0-0484-96E6-8E0C205EDF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C33FC5-C11C-10D7-D931-F9ECAC4DD5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8846C9-135C-F2B9-15B4-753957E38B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B735C2-AA45-3B7B-F214-0529EDE74F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601FD0-5AF9-308C-F54D-37C2DB0DB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65B74-A400-4856-B310-A4D8CF2D0A9D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4256FA-E9CC-6733-CB95-AAB1DB7E1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A86FAF-9247-ACEA-A73D-47F3015C1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E37FF-EB02-447B-A054-0F9104982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809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DBCD4-60DD-908E-77DD-4E0A0EAC5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A0F008-8E8C-2FF9-AF30-F42E0ED17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65B74-A400-4856-B310-A4D8CF2D0A9D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0D7D7D-CC59-5D7C-31B5-EC2807C1A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468F35-4023-42D2-CEE9-C504EDFF5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E37FF-EB02-447B-A054-0F9104982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933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642142-8A38-D112-A0E4-9087785D0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65B74-A400-4856-B310-A4D8CF2D0A9D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C9DBCC-B910-9D01-380B-6C4FE3912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845FA0-A1D9-1FF9-6A4D-DB34BE402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E37FF-EB02-447B-A054-0F9104982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974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83072-D012-E138-D48E-D04913FEE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636A8-0A28-A252-8E31-632CE61753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216EBA-6654-337B-546E-9804B0A5C0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7C6B2F-77C0-2550-8D4E-900211923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65B74-A400-4856-B310-A4D8CF2D0A9D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DD8D1C-4D8F-27E2-DC0B-D0F4154CF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AF385B-1CB7-9324-9982-62BB815FC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E37FF-EB02-447B-A054-0F9104982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779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806F4-5B20-7C52-F247-09AAE9F5F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E159FC-81AF-B089-0B9E-AA42487E8CF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CA33FD-EDFB-D1F8-80AC-9EBB1B8C69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5419F6-FAF5-3000-DDFE-AD7825696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65B74-A400-4856-B310-A4D8CF2D0A9D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82D90E-DFD7-72E4-9108-4290F3AF7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EDB8EB-5986-69D6-05C3-DB5AED702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E37FF-EB02-447B-A054-0F9104982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218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DFE3E-861A-0B3A-3B87-9957D9CC1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943097-9EB5-BFB6-1831-21AC271F8B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4C361C-FA58-83C0-5272-411E065A7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65B74-A400-4856-B310-A4D8CF2D0A9D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D384C5-14D3-F481-9B1E-916F5B3C1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5D165B-8504-57B7-5EA1-004DD31E3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E37FF-EB02-447B-A054-0F9104982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495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07AC21-7693-CD97-3D04-99860BCECE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93B523-EEDF-71E1-BAFF-53D7D87071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A64F7E-85F9-45F2-94CC-26F6D5EDA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65B74-A400-4856-B310-A4D8CF2D0A9D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EC3DDA-74B9-B3FF-3703-A511742D6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995084-8407-C311-098A-05731C4C7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E37FF-EB02-447B-A054-0F9104982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806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339853-4E97-3788-5572-D5AFD4162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B8978C-6AFE-AB9E-7002-2CFFC9131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D4C043-2BC9-0E54-B8DF-EB07416CF2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765B74-A400-4856-B310-A4D8CF2D0A9D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320472-52C5-69D7-8D70-B384BDD48C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43711D-0EE4-42B5-72A4-9E0F088A9E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7E37FF-EB02-447B-A054-0F9104982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079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10.png"/><Relationship Id="rId4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2569-E8D6-AB19-BF97-816CA1ADA9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MAS512 Assignment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15E42D-A931-5429-36AE-77B1B33D38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400"/>
              <a:t>Group 5</a:t>
            </a:r>
          </a:p>
          <a:p>
            <a:r>
              <a:rPr sz="2400"/>
              <a:t>Q1: Camera depth and neural network</a:t>
            </a:r>
          </a:p>
          <a:p>
            <a:r>
              <a:rPr sz="2400"/>
              <a:t>Q2: Lidar centre and KISS-ICP</a:t>
            </a:r>
          </a:p>
          <a:p>
            <a:r>
              <a:rPr sz="2400"/>
              <a:t>Q3: Camera-Lidar fusion on KITTI</a:t>
            </a:r>
          </a:p>
          <a:p>
            <a:r>
              <a:rPr sz="2400"/>
              <a:t>Q4: Slip estimation with a lidar and wheel encoders</a:t>
            </a:r>
          </a:p>
        </p:txBody>
      </p:sp>
    </p:spTree>
    <p:extLst>
      <p:ext uri="{BB962C8B-B14F-4D97-AF65-F5344CB8AC3E}">
        <p14:creationId xmlns:p14="http://schemas.microsoft.com/office/powerpoint/2010/main" val="2766971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Q1: Camera image to 3D position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48056" y="1600200"/>
            <a:ext cx="2450592" cy="996696"/>
          </a:xfrm>
          <a:prstGeom prst="roundRect">
            <a:avLst/>
          </a:prstGeom>
          <a:solidFill>
            <a:srgbClr val="E8EEF7"/>
          </a:solidFill>
          <a:ln w="1905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00000"/>
                </a:solidFill>
              </a:rPr>
              <a:t>1  Detect</a:t>
            </a:r>
          </a:p>
          <a:p>
            <a:pPr algn="ctr"/>
            <a:r>
              <a:rPr sz="1300">
                <a:solidFill>
                  <a:srgbClr val="404040"/>
                </a:solidFill>
              </a:rPr>
              <a:t>YOLO box centre (u, v)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962656" y="1965960"/>
            <a:ext cx="384048" cy="256032"/>
          </a:xfrm>
          <a:prstGeom prst="rightArrow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401568" y="1600200"/>
            <a:ext cx="2450592" cy="996696"/>
          </a:xfrm>
          <a:prstGeom prst="roundRect">
            <a:avLst/>
          </a:prstGeom>
          <a:solidFill>
            <a:srgbClr val="E8EEF7"/>
          </a:solidFill>
          <a:ln w="1905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00000"/>
                </a:solidFill>
              </a:rPr>
              <a:t>2  Add depth</a:t>
            </a:r>
          </a:p>
          <a:p>
            <a:pPr algn="ctr"/>
            <a:r>
              <a:rPr sz="1300">
                <a:solidFill>
                  <a:srgbClr val="404040"/>
                </a:solidFill>
              </a:rPr>
              <a:t>depth image gives Z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916168" y="1965960"/>
            <a:ext cx="384048" cy="256032"/>
          </a:xfrm>
          <a:prstGeom prst="rightArrow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345936" y="1600200"/>
            <a:ext cx="2450592" cy="996696"/>
          </a:xfrm>
          <a:prstGeom prst="roundRect">
            <a:avLst/>
          </a:prstGeom>
          <a:solidFill>
            <a:srgbClr val="E8EEF7"/>
          </a:solidFill>
          <a:ln w="1905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00000"/>
                </a:solidFill>
              </a:rPr>
              <a:t>3  Back-project</a:t>
            </a:r>
          </a:p>
          <a:p>
            <a:pPr algn="ctr"/>
            <a:r>
              <a:rPr sz="1300">
                <a:solidFill>
                  <a:srgbClr val="404040"/>
                </a:solidFill>
              </a:rPr>
              <a:t>(u, v, Z) → (X, Y, Z)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860536" y="1965960"/>
            <a:ext cx="384048" cy="256032"/>
          </a:xfrm>
          <a:prstGeom prst="rightArrow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299448" y="1600200"/>
            <a:ext cx="2450592" cy="996696"/>
          </a:xfrm>
          <a:prstGeom prst="roundRect">
            <a:avLst/>
          </a:prstGeom>
          <a:solidFill>
            <a:srgbClr val="E8EEF7"/>
          </a:solidFill>
          <a:ln w="1905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00000"/>
                </a:solidFill>
              </a:rPr>
              <a:t>4  Learn</a:t>
            </a:r>
          </a:p>
          <a:p>
            <a:pPr algn="ctr"/>
            <a:r>
              <a:rPr sz="1300">
                <a:solidFill>
                  <a:srgbClr val="404040"/>
                </a:solidFill>
              </a:rPr>
              <a:t>network maps one camera model to another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" y="3017520"/>
            <a:ext cx="112471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800" b="1"/>
              <a:t>(a) </a:t>
            </a:r>
            <a:r>
              <a:rPr sz="1800"/>
              <a:t>Pixel and depth to 3D with a pinhole model: X = (u − cx) Z / fx, Y = (v − cy) Z / fy</a:t>
            </a:r>
          </a:p>
          <a:p>
            <a:pPr>
              <a:spcBef>
                <a:spcPts val="500"/>
              </a:spcBef>
            </a:pPr>
            <a:r>
              <a:rPr sz="1800" b="1"/>
              <a:t>(b) </a:t>
            </a:r>
            <a:r>
              <a:rPr sz="1800"/>
              <a:t>Three sets of intrinsics (o1, o2, o3) give three 3D trajectories of the same load</a:t>
            </a:r>
          </a:p>
          <a:p>
            <a:pPr>
              <a:spcBef>
                <a:spcPts val="500"/>
              </a:spcBef>
            </a:pPr>
            <a:r>
              <a:rPr sz="1800" b="1"/>
              <a:t>(c) </a:t>
            </a:r>
            <a:r>
              <a:rPr sz="1800"/>
              <a:t>The load swings in a plane: fitted with SVD, and a circle fit gives the pendulum radius</a:t>
            </a:r>
          </a:p>
          <a:p>
            <a:pPr>
              <a:spcBef>
                <a:spcPts val="500"/>
              </a:spcBef>
            </a:pPr>
            <a:r>
              <a:rPr sz="1800" b="1"/>
              <a:t>(d) </a:t>
            </a:r>
            <a:r>
              <a:rPr sz="1800"/>
              <a:t>A small neural network learns to turn o1 into o2 (called o2*)</a:t>
            </a:r>
          </a:p>
          <a:p>
            <a:pPr>
              <a:spcBef>
                <a:spcPts val="500"/>
              </a:spcBef>
            </a:pPr>
            <a:r>
              <a:rPr sz="1800" b="1"/>
              <a:t>(e) </a:t>
            </a:r>
            <a:r>
              <a:rPr sz="1800"/>
              <a:t>Euclidean error between o2* and o2 shows how well it learned</a:t>
            </a:r>
          </a:p>
        </p:txBody>
      </p:sp>
      <p:sp>
        <p:nvSpPr>
          <p:cNvPr id="900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120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Q1(a)(b): Three camera matrices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48056" y="1554480"/>
          <a:ext cx="44805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/>
                        <a:t>o1  own calibration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661.8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831.4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310.8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244.6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/>
                        <a:t>o2  given (M_d)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1342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1342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/>
                        <a:t>o3  camera factory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601.4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601.5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326.4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239.3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48056" y="3200400"/>
            <a:ext cx="4480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/>
              <a:t>• o1: chessboard (9×6 corners, 27 mm squares), OpenCV</a:t>
            </a:r>
          </a:p>
          <a:p>
            <a:pPr>
              <a:spcBef>
                <a:spcPts val="500"/>
              </a:spcBef>
            </a:pPr>
            <a:r>
              <a:rPr sz="1400"/>
              <a:t>• o2: given in the assignment</a:t>
            </a:r>
          </a:p>
          <a:p>
            <a:pPr>
              <a:spcBef>
                <a:spcPts val="500"/>
              </a:spcBef>
            </a:pPr>
            <a:r>
              <a:rPr sz="1400"/>
              <a:t>• o3: factory values read from the camera</a:t>
            </a:r>
          </a:p>
          <a:p>
            <a:pPr>
              <a:spcBef>
                <a:spcPts val="500"/>
              </a:spcBef>
            </a:pPr>
            <a:r>
              <a:rPr sz="1400"/>
              <a:t>• 552 of 600 frames had both a detection and a depth value</a:t>
            </a:r>
          </a:p>
          <a:p>
            <a:pPr>
              <a:spcBef>
                <a:spcPts val="500"/>
              </a:spcBef>
            </a:pPr>
            <a:r>
              <a:rPr sz="1400"/>
              <a:t>• Z comes straight from the depth image, so it is the same for all three. Only x and y differ</a:t>
            </a:r>
          </a:p>
        </p:txBody>
      </p:sp>
      <p:pic>
        <p:nvPicPr>
          <p:cNvPr id="5" name="Picture 4" descr="6cd0071e-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554480"/>
            <a:ext cx="6675120" cy="29203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120640" y="4502277"/>
            <a:ext cx="6675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595959"/>
                </a:solidFill>
              </a:rPr>
              <a:t>The three trajectories, 3D and per axis</a:t>
            </a:r>
          </a:p>
        </p:txBody>
      </p:sp>
      <p:sp>
        <p:nvSpPr>
          <p:cNvPr id="900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120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Q1(b): How far apart are they?</a:t>
            </a:r>
          </a:p>
        </p:txBody>
      </p:sp>
      <p:pic>
        <p:nvPicPr>
          <p:cNvPr id="3" name="Picture 2" descr="19b7e2cc-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" y="1554480"/>
            <a:ext cx="6035040" cy="3017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48056" y="4599432"/>
            <a:ext cx="6035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595959"/>
                </a:solidFill>
              </a:rPr>
              <a:t>Distance between the trajectories, per frame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766560" y="1554480"/>
          <a:ext cx="502920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300"/>
                        <a:t>Pair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Max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300"/>
                        <a:t>o1 vs o2 (own vs given)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301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504 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300"/>
                        <a:t>o1 vs o3 (own vs camera)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67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129 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300"/>
                        <a:t>o2 vs o3 (given vs camera)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278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578 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766560" y="333756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/>
              <a:t>• Own calibration and the camera's factory values agree: both have a focal length around 600–800 px</a:t>
            </a:r>
          </a:p>
          <a:p>
            <a:pPr>
              <a:spcBef>
                <a:spcPts val="500"/>
              </a:spcBef>
            </a:pPr>
            <a:r>
              <a:rPr sz="1400"/>
              <a:t>• The given matrix (f = 1342) makes x and y about half as large, so it is far from both</a:t>
            </a:r>
          </a:p>
          <a:p>
            <a:pPr>
              <a:spcBef>
                <a:spcPts val="500"/>
              </a:spcBef>
            </a:pPr>
            <a:r>
              <a:rPr sz="1400"/>
              <a:t>• The jump near frame 47 is in all three: it comes from the detection, not the matrices</a:t>
            </a:r>
          </a:p>
        </p:txBody>
      </p:sp>
      <p:sp>
        <p:nvSpPr>
          <p:cNvPr id="900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120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Q1(c): Swing plane and radius</a:t>
            </a:r>
          </a:p>
        </p:txBody>
      </p:sp>
      <p:pic>
        <p:nvPicPr>
          <p:cNvPr id="3" name="Picture 2" descr="99c48bcb-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" y="1508760"/>
            <a:ext cx="11247120" cy="2445026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48056" y="4343400"/>
          <a:ext cx="603504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300"/>
                        <a:t>Matrix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Fitted radius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Diff. to 1.80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Circle-fit RMS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300"/>
                        <a:t>o1  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1.854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+54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36.7 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300"/>
                        <a:t>o2  given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2.485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+685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23.7 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300"/>
                        <a:t>o3  camera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1.642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−158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44.5 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766560" y="4251960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/>
              <a:t>• SVD gives the swing plane; a circle fitted in it gives the radius</a:t>
            </a:r>
          </a:p>
          <a:p>
            <a:pPr>
              <a:spcBef>
                <a:spcPts val="500"/>
              </a:spcBef>
            </a:pPr>
            <a:r>
              <a:rPr sz="1400"/>
              <a:t>• Estimated string length: 1.80 m. o1 is closest</a:t>
            </a:r>
          </a:p>
          <a:p>
            <a:pPr>
              <a:spcBef>
                <a:spcPts val="500"/>
              </a:spcBef>
            </a:pPr>
            <a:r>
              <a:rPr sz="1400"/>
              <a:t>• o2 is too large: its scale is wrong, so the arc is stretched</a:t>
            </a:r>
          </a:p>
        </p:txBody>
      </p:sp>
      <p:sp>
        <p:nvSpPr>
          <p:cNvPr id="900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120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Q1(d): Network from o1 to o2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48056" y="1554480"/>
          <a:ext cx="521208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300"/>
                        <a:t>Setting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300"/>
                        <a:t>Input /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o1 (X, Y, Z) → o2 (X, Y, Z)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300"/>
                        <a:t>Network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2 hidden layers of 16, tanh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300"/>
                        <a:t>Solver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Adam, one epoch at a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300"/>
                        <a:t>Scaling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Inputs and outputs standardized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300"/>
                        <a:t>Train / test split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80 / 20 %, fixed seed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300"/>
                        <a:t>Epochs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300 (stop limit not reached)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48056" y="4434840"/>
            <a:ext cx="5212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/>
              <a:t>• Training and test loss follow each other, so no overfitting</a:t>
            </a:r>
          </a:p>
          <a:p>
            <a:pPr>
              <a:spcBef>
                <a:spcPts val="500"/>
              </a:spcBef>
            </a:pPr>
            <a:r>
              <a:rPr sz="1400"/>
              <a:t>• Final loss 1.7e-3 (training) and 1.6e-3 (test), still falling slowly</a:t>
            </a:r>
          </a:p>
          <a:p>
            <a:pPr>
              <a:spcBef>
                <a:spcPts val="500"/>
              </a:spcBef>
            </a:pPr>
            <a:r>
              <a:rPr sz="1400"/>
              <a:t>• o2 is a linear function of o1, so the network only has to find a scaling and an offset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4926003"/>
            <a:ext cx="5852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595959"/>
                </a:solidFill>
              </a:rPr>
              <a:t>Loss during training (log scale)</a:t>
            </a:r>
          </a:p>
        </p:txBody>
      </p:sp>
      <p:sp>
        <p:nvSpPr>
          <p:cNvPr id="900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1200"/>
              <a:t>6</a:t>
            </a:fld>
            <a:endParaRPr lang="en-US"/>
          </a:p>
        </p:txBody>
      </p:sp>
      <p:pic>
        <p:nvPicPr>
          <p:cNvPr id="10" name="Picture 9" descr="The diagram depicts a training plot where the training loss and test loss (held out) for a model, labeled as 'f_theta', are plotted against the number of epochs, with MSE (scaled data) values at specific epochs.&#10;&#10;AI-generated content may be incorrect.">
            <a:extLst>
              <a:ext uri="{FF2B5EF4-FFF2-40B4-BE49-F238E27FC236}">
                <a16:creationId xmlns:a16="http://schemas.microsoft.com/office/drawing/2014/main" id="{A7CF3B8C-381E-2007-B810-43DB73F0C1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5204" y="1268705"/>
            <a:ext cx="6400271" cy="36572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Q1(d): Accuracy on the test frames</a:t>
            </a:r>
          </a:p>
        </p:txBody>
      </p:sp>
      <p:pic>
        <p:nvPicPr>
          <p:cNvPr id="3" name="Picture 2" descr="4022f03e-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" y="1508760"/>
            <a:ext cx="10363200" cy="3108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48056" y="4645152"/>
            <a:ext cx="1036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595959"/>
                </a:solidFill>
              </a:rPr>
              <a:t>Predicted o2* against true o2, test frames only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48056" y="5029200"/>
          <a:ext cx="5120640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r>
                        <a:rPr sz="1200"/>
                        <a:t>Test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20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4.3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3.4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0.9979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20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3.5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2.7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0.9977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200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12.8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8.1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0.9992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852160" y="5029200"/>
            <a:ext cx="5943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/>
              <a:t>• Points lie on the red line: the network has learned the mapping</a:t>
            </a:r>
          </a:p>
          <a:p>
            <a:pPr>
              <a:spcBef>
                <a:spcPts val="500"/>
              </a:spcBef>
            </a:pPr>
            <a:r>
              <a:rPr sz="1400"/>
              <a:t>• Z is worst in mm, although it is identical in o1 and o2: a sign that training is not fully converged</a:t>
            </a:r>
          </a:p>
        </p:txBody>
      </p:sp>
      <p:sp>
        <p:nvSpPr>
          <p:cNvPr id="900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120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Q1(e): Euclidean errors</a:t>
            </a:r>
          </a:p>
        </p:txBody>
      </p:sp>
      <p:pic>
        <p:nvPicPr>
          <p:cNvPr id="3" name="Picture 2" descr="54e48526-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" y="1554480"/>
            <a:ext cx="6126480" cy="3063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48056" y="4645152"/>
            <a:ext cx="6126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595959"/>
                </a:solidFill>
              </a:rPr>
              <a:t>Error between the trajectories, per frame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766560" y="1554480"/>
          <a:ext cx="502920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200"/>
                        <a:t>Error (552 frames)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Median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Max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/>
                        <a:t>|o1 − o2|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301.1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297.1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504.5 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/>
                        <a:t>|o1 − o2*|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301.3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294.8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519.9 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/>
                        <a:t>|o2 − o2*|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9.6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6.7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55.3 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766560" y="333756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/>
              <a:t>• o2* is as far from o1 as o2 is (about 301 mm), so it is a good copy of o2</a:t>
            </a:r>
          </a:p>
          <a:p>
            <a:pPr>
              <a:spcBef>
                <a:spcPts val="500"/>
              </a:spcBef>
            </a:pPr>
            <a:r>
              <a:rPr sz="1400"/>
              <a:t>• The network is wrong by about 10 mm on average, 30 times less than the gap it bridges</a:t>
            </a:r>
          </a:p>
          <a:p>
            <a:pPr>
              <a:spcBef>
                <a:spcPts val="500"/>
              </a:spcBef>
            </a:pPr>
            <a:r>
              <a:rPr sz="1400"/>
              <a:t>• Largest errors are at the start (up to 55 mm)</a:t>
            </a:r>
          </a:p>
        </p:txBody>
      </p:sp>
      <p:sp>
        <p:nvSpPr>
          <p:cNvPr id="900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120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Q2(a): Finding the centre of the load</a:t>
            </a:r>
          </a:p>
        </p:txBody>
      </p:sp>
      <p:pic>
        <p:nvPicPr>
          <p:cNvPr id="3" name="Picture 2" descr="7786543f-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" y="1554480"/>
            <a:ext cx="6126480" cy="282760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48056" y="4409518"/>
            <a:ext cx="6126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595959"/>
                </a:solidFill>
              </a:rPr>
              <a:t>Lidar points of the load inside the search box (ROI)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155448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500"/>
              <a:t>• Ouster OS-1-64, 99 frames at 10 Hz, converted to x, y, z points</a:t>
            </a:r>
          </a:p>
          <a:p>
            <a:pPr>
              <a:spcBef>
                <a:spcPts val="500"/>
              </a:spcBef>
            </a:pPr>
            <a:r>
              <a:rPr sz="1500"/>
              <a:t>• ROI box around the load: x 0–1.6 m, y 0.8–3.0 m, z −0.3–1.2 m</a:t>
            </a:r>
          </a:p>
          <a:p>
            <a:pPr>
              <a:spcBef>
                <a:spcPts val="500"/>
              </a:spcBef>
            </a:pPr>
            <a:r>
              <a:rPr sz="1500"/>
              <a:t>• DBSCAN (eps 0.08 m, min 10 points) keeps the biggest cluster = the load</a:t>
            </a:r>
          </a:p>
          <a:p>
            <a:pPr>
              <a:spcBef>
                <a:spcPts val="500"/>
              </a:spcBef>
            </a:pPr>
            <a:r>
              <a:rPr sz="1500"/>
              <a:t>• Sling and hook removed: only the lowest 0.30 m of the cluster is kept</a:t>
            </a:r>
          </a:p>
          <a:p>
            <a:pPr>
              <a:spcBef>
                <a:spcPts val="500"/>
              </a:spcBef>
            </a:pPr>
            <a:r>
              <a:rPr sz="1500"/>
              <a:t>• Centre = mean of the remaining 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" y="4846320"/>
            <a:ext cx="6126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/>
              <a:t>• Why the centroid: it uses all points, so it is smooth and has no drift</a:t>
            </a:r>
          </a:p>
        </p:txBody>
      </p:sp>
      <p:sp>
        <p:nvSpPr>
          <p:cNvPr id="900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120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Q2(a): A pendulum swing</a:t>
            </a:r>
          </a:p>
        </p:txBody>
      </p:sp>
      <p:pic>
        <p:nvPicPr>
          <p:cNvPr id="3" name="Picture 2" descr="62e70018-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" y="1554480"/>
            <a:ext cx="6400800" cy="2743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48056" y="4325112"/>
            <a:ext cx="6400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595959"/>
                </a:solidFill>
              </a:rPr>
              <a:t>Centre of the swinging load (3D and versus time)</a:t>
            </a:r>
          </a:p>
        </p:txBody>
      </p:sp>
      <p:pic>
        <p:nvPicPr>
          <p:cNvPr id="5" name="Picture 4" descr="3f7a21f3-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7456" y="1554480"/>
            <a:ext cx="4297680" cy="273488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77456" y="4316799"/>
            <a:ext cx="4297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595959"/>
                </a:solidFill>
              </a:rPr>
              <a:t>Path in the axes of the assignment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" y="475488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500"/>
              <a:t>• Swing period 2.80 s from a sinusoid fit, so L = g T² / (4π²) ≈ 1.95 m</a:t>
            </a:r>
          </a:p>
          <a:p>
            <a:pPr>
              <a:spcBef>
                <a:spcPts val="500"/>
              </a:spcBef>
            </a:pPr>
            <a:r>
              <a:rPr sz="1500"/>
              <a:t>• Noise of the centroid with a still load: 0.5 / 0.9 / 0.5 mm (x / y / z)</a:t>
            </a:r>
          </a:p>
          <a:p>
            <a:pPr>
              <a:spcBef>
                <a:spcPts val="500"/>
              </a:spcBef>
            </a:pPr>
            <a:r>
              <a:rPr sz="1500"/>
              <a:t>• This gives us a clean reference to judge KISS-ICP against</a:t>
            </a:r>
          </a:p>
        </p:txBody>
      </p:sp>
      <p:sp>
        <p:nvSpPr>
          <p:cNvPr id="900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120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Q2(b): KISS-ICP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48056" y="1600200"/>
            <a:ext cx="2450592" cy="996696"/>
          </a:xfrm>
          <a:prstGeom prst="roundRect">
            <a:avLst/>
          </a:prstGeom>
          <a:solidFill>
            <a:srgbClr val="E8EEF7"/>
          </a:solidFill>
          <a:ln w="1905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00000"/>
                </a:solidFill>
              </a:rPr>
              <a:t>1  Downsample</a:t>
            </a:r>
          </a:p>
          <a:p>
            <a:pPr algn="ctr"/>
            <a:r>
              <a:rPr sz="1300">
                <a:solidFill>
                  <a:srgbClr val="404040"/>
                </a:solidFill>
              </a:rPr>
              <a:t>voxel grid on each scan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962656" y="1965960"/>
            <a:ext cx="384048" cy="256032"/>
          </a:xfrm>
          <a:prstGeom prst="rightArrow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401568" y="1600200"/>
            <a:ext cx="2450592" cy="996696"/>
          </a:xfrm>
          <a:prstGeom prst="roundRect">
            <a:avLst/>
          </a:prstGeom>
          <a:solidFill>
            <a:srgbClr val="E8EEF7"/>
          </a:solidFill>
          <a:ln w="1905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00000"/>
                </a:solidFill>
              </a:rPr>
              <a:t>2  Predict</a:t>
            </a:r>
          </a:p>
          <a:p>
            <a:pPr algn="ctr"/>
            <a:r>
              <a:rPr sz="1300">
                <a:solidFill>
                  <a:srgbClr val="404040"/>
                </a:solidFill>
              </a:rPr>
              <a:t>constant-velocity guess of the move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916168" y="1965960"/>
            <a:ext cx="384048" cy="256032"/>
          </a:xfrm>
          <a:prstGeom prst="rightArrow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345936" y="1600200"/>
            <a:ext cx="2450592" cy="996696"/>
          </a:xfrm>
          <a:prstGeom prst="roundRect">
            <a:avLst/>
          </a:prstGeom>
          <a:solidFill>
            <a:srgbClr val="E8EEF7"/>
          </a:solidFill>
          <a:ln w="1905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00000"/>
                </a:solidFill>
              </a:rPr>
              <a:t>3  Align (ICP)</a:t>
            </a:r>
          </a:p>
          <a:p>
            <a:pPr algn="ctr"/>
            <a:r>
              <a:rPr sz="1300">
                <a:solidFill>
                  <a:srgbClr val="404040"/>
                </a:solidFill>
              </a:rPr>
              <a:t>scan to local map, point to point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860536" y="1965960"/>
            <a:ext cx="384048" cy="256032"/>
          </a:xfrm>
          <a:prstGeom prst="rightArrow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299448" y="1600200"/>
            <a:ext cx="2450592" cy="996696"/>
          </a:xfrm>
          <a:prstGeom prst="roundRect">
            <a:avLst/>
          </a:prstGeom>
          <a:solidFill>
            <a:srgbClr val="E8EEF7"/>
          </a:solidFill>
          <a:ln w="1905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00000"/>
                </a:solidFill>
              </a:rPr>
              <a:t>4  Update</a:t>
            </a:r>
          </a:p>
          <a:p>
            <a:pPr algn="ctr"/>
            <a:r>
              <a:rPr sz="1300">
                <a:solidFill>
                  <a:srgbClr val="404040"/>
                </a:solidFill>
              </a:rPr>
              <a:t>add scan to map, adapt threshold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" y="2926080"/>
            <a:ext cx="3657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500" b="1"/>
              <a:t>Principle</a:t>
            </a:r>
          </a:p>
          <a:p>
            <a:pPr>
              <a:spcBef>
                <a:spcPts val="500"/>
              </a:spcBef>
            </a:pPr>
            <a:r>
              <a:rPr sz="1500"/>
              <a:t>• Odometry from lidar only: each new scan is matched to a map of the earlier scans</a:t>
            </a:r>
          </a:p>
          <a:p>
            <a:pPr>
              <a:spcBef>
                <a:spcPts val="500"/>
              </a:spcBef>
            </a:pPr>
            <a:r>
              <a:rPr sz="1500"/>
              <a:t>• The map is a voxel grid, so it stays small and fast</a:t>
            </a:r>
          </a:p>
          <a:p>
            <a:pPr>
              <a:spcBef>
                <a:spcPts val="500"/>
              </a:spcBef>
            </a:pPr>
            <a:r>
              <a:rPr sz="1500"/>
              <a:t>• Match distance limit adapts to how fast things move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88536" y="2926080"/>
            <a:ext cx="3657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500" b="1"/>
              <a:t>Used for</a:t>
            </a:r>
          </a:p>
          <a:p>
            <a:pPr>
              <a:spcBef>
                <a:spcPts val="500"/>
              </a:spcBef>
            </a:pPr>
            <a:r>
              <a:rPr sz="1500"/>
              <a:t>• Cars and robots: pose without GPS</a:t>
            </a:r>
          </a:p>
          <a:p>
            <a:pPr>
              <a:spcBef>
                <a:spcPts val="500"/>
              </a:spcBef>
            </a:pPr>
            <a:r>
              <a:rPr sz="1500"/>
              <a:t>• Mapping and localization where only a lidar is available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9016" y="2926080"/>
            <a:ext cx="3657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500" b="1"/>
              <a:t>Drawbacks</a:t>
            </a:r>
          </a:p>
          <a:p>
            <a:pPr>
              <a:spcBef>
                <a:spcPts val="500"/>
              </a:spcBef>
            </a:pPr>
            <a:r>
              <a:rPr sz="1500"/>
              <a:t>• Assumes the sensor moves in a fixed world (here the load moves, so we invert the pose)</a:t>
            </a:r>
          </a:p>
          <a:p>
            <a:pPr>
              <a:spcBef>
                <a:spcPts val="500"/>
              </a:spcBef>
            </a:pPr>
            <a:r>
              <a:rPr sz="1500"/>
              <a:t>• Constant speed assumed; drifts without loop closure</a:t>
            </a:r>
          </a:p>
          <a:p>
            <a:pPr>
              <a:spcBef>
                <a:spcPts val="500"/>
              </a:spcBef>
            </a:pPr>
            <a:r>
              <a:rPr sz="1500"/>
              <a:t>• Needs good geometry: a small object seen from one side is weak</a:t>
            </a:r>
          </a:p>
        </p:txBody>
      </p:sp>
      <p:sp>
        <p:nvSpPr>
          <p:cNvPr id="900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120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Q2(b): KISS-ICP vs the centroid</a:t>
            </a:r>
          </a:p>
        </p:txBody>
      </p:sp>
      <p:pic>
        <p:nvPicPr>
          <p:cNvPr id="3" name="Picture 2" descr="1bb3e298-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" y="1554480"/>
            <a:ext cx="6766560" cy="289995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48056" y="4481866"/>
            <a:ext cx="6766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595959"/>
                </a:solidFill>
              </a:rPr>
              <a:t>KISS-ICP position against the centroid (Q2a)</a:t>
            </a:r>
          </a:p>
        </p:txBody>
      </p:sp>
      <p:pic>
        <p:nvPicPr>
          <p:cNvPr id="5" name="Picture 4" descr="18ed216e-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3216" y="1554480"/>
            <a:ext cx="3762102" cy="2926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43216" y="4507992"/>
            <a:ext cx="376210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595959"/>
                </a:solidFill>
              </a:rPr>
              <a:t>Difference and rotation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" y="489204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500"/>
              <a:t>• Settings scaled down for a 0.3 m object: voxel 0.02 m, range 0–10 m, no deskew</a:t>
            </a:r>
          </a:p>
          <a:p>
            <a:pPr>
              <a:spcBef>
                <a:spcPts val="500"/>
              </a:spcBef>
            </a:pPr>
            <a:r>
              <a:rPr sz="1500"/>
              <a:t>• Difference to the centroid: mean 39.0 mm, max 74.3 mm, RMS 43.2 mm</a:t>
            </a:r>
          </a:p>
          <a:p>
            <a:pPr>
              <a:spcBef>
                <a:spcPts val="500"/>
              </a:spcBef>
            </a:pPr>
            <a:r>
              <a:rPr sz="1500"/>
              <a:t>• Pose of the load = inverse of the KISS-ICP sensor pose</a:t>
            </a:r>
          </a:p>
        </p:txBody>
      </p:sp>
      <p:sp>
        <p:nvSpPr>
          <p:cNvPr id="900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120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Q2(b): Pose and what to trust</a:t>
            </a:r>
          </a:p>
        </p:txBody>
      </p:sp>
      <p:pic>
        <p:nvPicPr>
          <p:cNvPr id="3" name="Picture 2" descr="795c7abf-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" y="1554480"/>
            <a:ext cx="4480560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48056" y="6062472"/>
            <a:ext cx="5029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595959"/>
                </a:solidFill>
              </a:rPr>
              <a:t>Load pose (x red, y green, z blue), every 10th frame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1554480"/>
            <a:ext cx="6309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500"/>
              <a:t>• Position follows the swing well: errors are millimetres to a few cm</a:t>
            </a:r>
          </a:p>
          <a:p>
            <a:pPr>
              <a:spcBef>
                <a:spcPts val="500"/>
              </a:spcBef>
            </a:pPr>
            <a:r>
              <a:rPr sz="1500"/>
              <a:t>• Rotation reaches 19.3°: part of it is real (the load turns about ±11° while swinging), part is drift</a:t>
            </a:r>
          </a:p>
          <a:p>
            <a:pPr>
              <a:spcBef>
                <a:spcPts val="500"/>
              </a:spcBef>
            </a:pPr>
            <a:r>
              <a:rPr sz="1500"/>
              <a:t>• The x amplitude is about 17 % larger than the centroid's</a:t>
            </a:r>
          </a:p>
          <a:p>
            <a:pPr>
              <a:spcBef>
                <a:spcPts val="500"/>
              </a:spcBef>
            </a:pPr>
            <a:r>
              <a:rPr sz="1500"/>
              <a:t>• Only one side of the object is seen, so rotation is weakly determined</a:t>
            </a:r>
          </a:p>
          <a:p>
            <a:pPr>
              <a:spcBef>
                <a:spcPts val="500"/>
              </a:spcBef>
            </a:pPr>
            <a:r>
              <a:rPr sz="1500"/>
              <a:t>• Neither method is ground truth; the centroid is the better position reference, KISS-ICP is the only one with orientation</a:t>
            </a:r>
          </a:p>
        </p:txBody>
      </p:sp>
      <p:sp>
        <p:nvSpPr>
          <p:cNvPr id="900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120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Q3(a): KITTI sensors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1801" y="4705647"/>
            <a:ext cx="4810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 dirty="0">
                <a:solidFill>
                  <a:srgbClr val="595959"/>
                </a:solidFill>
              </a:rPr>
              <a:t>KITTI: an open benchmark dataset, recorded from a car driving around </a:t>
            </a:r>
            <a:r>
              <a:rPr lang="en-US" sz="1200" b="0" i="1" dirty="0">
                <a:solidFill>
                  <a:srgbClr val="595959"/>
                </a:solidFill>
              </a:rPr>
              <a:t>in </a:t>
            </a:r>
            <a:r>
              <a:rPr sz="1200" b="0" i="1" dirty="0">
                <a:solidFill>
                  <a:srgbClr val="595959"/>
                </a:solidFill>
              </a:rPr>
              <a:t>Germany</a:t>
            </a:r>
            <a:r>
              <a:rPr lang="en-US" sz="1200" b="0" i="1" dirty="0">
                <a:solidFill>
                  <a:srgbClr val="595959"/>
                </a:solidFill>
              </a:rPr>
              <a:t>. </a:t>
            </a:r>
            <a:r>
              <a:rPr lang="en-US" sz="1200" i="1" dirty="0">
                <a:solidFill>
                  <a:srgbClr val="595959"/>
                </a:solidFill>
              </a:rPr>
              <a:t>Retrieved from: https://www.cvlibs.net/datasets/kitti/</a:t>
            </a:r>
            <a:endParaRPr sz="1200" b="0" i="1" dirty="0">
              <a:solidFill>
                <a:srgbClr val="595959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700000" y="1600000"/>
            <a:ext cx="5200000" cy="2811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600" b="1" dirty="0">
                <a:solidFill>
                  <a:srgbClr val="2F5597"/>
                </a:solidFill>
              </a:rPr>
              <a:t>Cameras (4): </a:t>
            </a:r>
            <a:r>
              <a:rPr sz="1600" dirty="0"/>
              <a:t>cam0/cam1 grayscale pair, cam2/cam3 color pair</a:t>
            </a:r>
            <a:r>
              <a:rPr lang="en-US" sz="1600" dirty="0"/>
              <a:t>.</a:t>
            </a:r>
          </a:p>
          <a:p>
            <a:pPr>
              <a:spcBef>
                <a:spcPts val="800"/>
              </a:spcBef>
            </a:pPr>
            <a:r>
              <a:rPr sz="1600" b="1" dirty="0">
                <a:solidFill>
                  <a:srgbClr val="2F5597"/>
                </a:solidFill>
              </a:rPr>
              <a:t>Lidar: </a:t>
            </a:r>
            <a:r>
              <a:rPr sz="1600" dirty="0"/>
              <a:t>Velodyne HDL-64E: 64 laser beams, 360° around the car, 10 Hz, </a:t>
            </a:r>
            <a:r>
              <a:rPr lang="en-US" sz="1600" dirty="0"/>
              <a:t>typically 100 000–125 000 points per scan</a:t>
            </a:r>
          </a:p>
          <a:p>
            <a:pPr>
              <a:spcBef>
                <a:spcPts val="800"/>
              </a:spcBef>
            </a:pPr>
            <a:r>
              <a:rPr sz="1600" b="1" dirty="0">
                <a:solidFill>
                  <a:srgbClr val="2F5597"/>
                </a:solidFill>
              </a:rPr>
              <a:t>GPS/IMU: </a:t>
            </a:r>
            <a:r>
              <a:rPr sz="1600" dirty="0"/>
              <a:t>Position and motion of the car (not needed in this task)</a:t>
            </a:r>
          </a:p>
          <a:p>
            <a:pPr>
              <a:spcBef>
                <a:spcPts val="800"/>
              </a:spcBef>
            </a:pPr>
            <a:r>
              <a:rPr sz="1600" b="1" dirty="0">
                <a:solidFill>
                  <a:srgbClr val="2F5597"/>
                </a:solidFill>
              </a:rPr>
              <a:t>Synchronized: </a:t>
            </a:r>
            <a:r>
              <a:rPr sz="1600" dirty="0"/>
              <a:t>The lidar triggers the cameras, so one frame = one moment</a:t>
            </a:r>
          </a:p>
          <a:p>
            <a:pPr>
              <a:spcBef>
                <a:spcPts val="1400"/>
              </a:spcBef>
            </a:pPr>
            <a:r>
              <a:rPr sz="1700" b="1" dirty="0"/>
              <a:t>This task uses cam2 (left color camera) + the lidar</a:t>
            </a:r>
          </a:p>
        </p:txBody>
      </p:sp>
      <p:pic>
        <p:nvPicPr>
          <p:cNvPr id="6" name="Picture 5" descr="The KITTI Vision Benchmark Suite">
            <a:extLst>
              <a:ext uri="{FF2B5EF4-FFF2-40B4-BE49-F238E27FC236}">
                <a16:creationId xmlns:a16="http://schemas.microsoft.com/office/drawing/2014/main" id="{35CD05E5-2864-CA35-18E5-EB45D89979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7907" y="1690688"/>
            <a:ext cx="3376955" cy="2912340"/>
          </a:xfrm>
          <a:prstGeom prst="rect">
            <a:avLst/>
          </a:prstGeom>
        </p:spPr>
      </p:pic>
      <p:sp>
        <p:nvSpPr>
          <p:cNvPr id="900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120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Q3(a): One frame, two views</a:t>
            </a:r>
          </a:p>
        </p:txBody>
      </p:sp>
      <p:pic>
        <p:nvPicPr>
          <p:cNvPr id="3" name="Picture 2" descr="fig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1550000"/>
            <a:ext cx="6700000" cy="20229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0000" y="3602946"/>
            <a:ext cx="67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 dirty="0">
                <a:solidFill>
                  <a:srgbClr val="595959"/>
                </a:solidFill>
              </a:rPr>
              <a:t>Camera (cam2): what the scene looks like, frame 006942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0000" y="4250000"/>
            <a:ext cx="6700000" cy="2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500" dirty="0"/>
              <a:t>• Lidar scan = a point cloud: 109 578 points around the whole car, each with x, y, z and reflectance</a:t>
            </a:r>
          </a:p>
          <a:p>
            <a:pPr>
              <a:spcBef>
                <a:spcPts val="500"/>
              </a:spcBef>
            </a:pPr>
            <a:r>
              <a:rPr sz="1500" dirty="0"/>
              <a:t>• Only 18 351 of them (17 %) land inside the camera image: the camera sees forward only</a:t>
            </a:r>
          </a:p>
          <a:p>
            <a:pPr>
              <a:spcBef>
                <a:spcPts val="500"/>
              </a:spcBef>
            </a:pPr>
            <a:r>
              <a:rPr sz="1500" dirty="0"/>
              <a:t>• Camera: color and detail, but no depth. Lidar: depth, but no color</a:t>
            </a:r>
          </a:p>
          <a:p>
            <a:pPr>
              <a:spcBef>
                <a:spcPts val="500"/>
              </a:spcBef>
            </a:pPr>
            <a:r>
              <a:rPr sz="1500" dirty="0"/>
              <a:t>• Both show the same cars, at the same moment</a:t>
            </a:r>
          </a:p>
        </p:txBody>
      </p:sp>
      <p:pic>
        <p:nvPicPr>
          <p:cNvPr id="6" name="Picture 5" descr="fig_be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0000" y="1550000"/>
            <a:ext cx="4550000" cy="40876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50000" y="5667676"/>
            <a:ext cx="45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595959"/>
                </a:solidFill>
              </a:rPr>
              <a:t>Point cloud (velodyne/006942.bin) from above, colored by height</a:t>
            </a:r>
          </a:p>
        </p:txBody>
      </p:sp>
      <p:sp>
        <p:nvSpPr>
          <p:cNvPr id="900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120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Q3(a): Calibration files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0000" y="1650000"/>
            <a:ext cx="2900000" cy="850000"/>
          </a:xfrm>
          <a:prstGeom prst="roundRect">
            <a:avLst/>
          </a:prstGeom>
          <a:solidFill>
            <a:srgbClr val="E8EEF7"/>
          </a:solidFill>
          <a:ln w="19050"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00000"/>
                </a:solidFill>
              </a:rPr>
              <a:t>Tr_velo_to_cam</a:t>
            </a:r>
          </a:p>
          <a:p>
            <a:pPr algn="ctr"/>
            <a:r>
              <a:rPr sz="1300">
                <a:solidFill>
                  <a:srgbClr val="404040"/>
                </a:solidFill>
              </a:rPr>
              <a:t>lidar → camera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0" y="1650000"/>
            <a:ext cx="8100000" cy="8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/>
              <a:t>Says where the lidar sits compared to the camera (about 8 cm above and 27 cm behind it), so lidar points can be moved into the camera's view</a:t>
            </a:r>
          </a:p>
        </p:txBody>
      </p:sp>
      <p:sp>
        <p:nvSpPr>
          <p:cNvPr id="3" name="Rounded Rectangle 3"/>
          <p:cNvSpPr/>
          <p:nvPr/>
        </p:nvSpPr>
        <p:spPr>
          <a:xfrm>
            <a:off x="450000" y="2650000"/>
            <a:ext cx="2900000" cy="850000"/>
          </a:xfrm>
          <a:prstGeom prst="roundRect">
            <a:avLst/>
          </a:prstGeom>
          <a:solidFill>
            <a:srgbClr val="E8EEF7"/>
          </a:solidFill>
          <a:ln w="19050"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00000"/>
                </a:solidFill>
              </a:rPr>
              <a:t>R0_rect</a:t>
            </a:r>
          </a:p>
          <a:p>
            <a:pPr algn="ctr"/>
            <a:r>
              <a:rPr sz="1300">
                <a:solidFill>
                  <a:srgbClr val="404040"/>
                </a:solidFill>
              </a:rPr>
              <a:t>small 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0" y="2650000"/>
            <a:ext cx="8100000" cy="8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/>
              <a:t>A tiny rotation that lines the cameras up with each other. It is almost "do nothing"</a:t>
            </a:r>
          </a:p>
        </p:txBody>
      </p:sp>
      <p:sp>
        <p:nvSpPr>
          <p:cNvPr id="9" name="Rounded Rectangle 3"/>
          <p:cNvSpPr/>
          <p:nvPr/>
        </p:nvSpPr>
        <p:spPr>
          <a:xfrm>
            <a:off x="450000" y="3650000"/>
            <a:ext cx="2900000" cy="850000"/>
          </a:xfrm>
          <a:prstGeom prst="roundRect">
            <a:avLst/>
          </a:prstGeom>
          <a:solidFill>
            <a:srgbClr val="E8EEF7"/>
          </a:solidFill>
          <a:ln w="19050"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00000"/>
                </a:solidFill>
              </a:rPr>
              <a:t>P2</a:t>
            </a:r>
          </a:p>
          <a:p>
            <a:pPr algn="ctr"/>
            <a:r>
              <a:rPr sz="1300">
                <a:solidFill>
                  <a:srgbClr val="404040"/>
                </a:solidFill>
              </a:rPr>
              <a:t>camera → pixels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0" y="3650000"/>
            <a:ext cx="8100000" cy="8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/>
              <a:t>Describes the camera itself: the focal length and where the center of the image is. It turns a 3D point into a pixel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000" y="4850000"/>
            <a:ext cx="11300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dirty="0">
                <a:solidFill>
                  <a:srgbClr val="2F5597"/>
                </a:solidFill>
              </a:rPr>
              <a:t>Why it matters: </a:t>
            </a:r>
            <a:r>
              <a:rPr sz="1600" dirty="0"/>
              <a:t>without these files a lidar point cannot be placed on the right pixel. Every frame has its own calibration file.</a:t>
            </a:r>
          </a:p>
        </p:txBody>
      </p:sp>
      <p:sp>
        <p:nvSpPr>
          <p:cNvPr id="900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120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Q3(a): Labels = ground truth</a:t>
            </a:r>
          </a:p>
        </p:txBody>
      </p:sp>
      <p:pic>
        <p:nvPicPr>
          <p:cNvPr id="3" name="Picture 2" descr="fig_lab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479" y="1545237"/>
            <a:ext cx="6742659" cy="208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3875" y="4104740"/>
            <a:ext cx="6960450" cy="1208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500" dirty="0"/>
              <a:t>• Each frame has a label file: one line per object</a:t>
            </a:r>
          </a:p>
          <a:p>
            <a:pPr>
              <a:spcBef>
                <a:spcPts val="500"/>
              </a:spcBef>
            </a:pPr>
            <a:r>
              <a:rPr sz="1500" dirty="0"/>
              <a:t>• This frame: 13 objects (11 cars, 1 van, 1 cyclist) + 2 </a:t>
            </a:r>
            <a:r>
              <a:rPr sz="1500" dirty="0" err="1"/>
              <a:t>DontCare</a:t>
            </a:r>
            <a:r>
              <a:rPr sz="1500" dirty="0"/>
              <a:t> regions</a:t>
            </a:r>
          </a:p>
          <a:p>
            <a:pPr>
              <a:spcBef>
                <a:spcPts val="500"/>
              </a:spcBef>
            </a:pPr>
            <a:r>
              <a:rPr sz="1500" dirty="0"/>
              <a:t>• Humans marked each object in 2D (box in the image) and 3D (size, position)</a:t>
            </a:r>
          </a:p>
          <a:p>
            <a:pPr>
              <a:spcBef>
                <a:spcPts val="500"/>
              </a:spcBef>
            </a:pPr>
            <a:r>
              <a:rPr sz="1500" dirty="0"/>
              <a:t>• The 3D position gives the true distance, so we can check our lidar estimate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DC63CF-87E1-9645-A373-0BE7255DB187}"/>
              </a:ext>
            </a:extLst>
          </p:cNvPr>
          <p:cNvSpPr txBox="1"/>
          <p:nvPr/>
        </p:nvSpPr>
        <p:spPr>
          <a:xfrm>
            <a:off x="450000" y="3602946"/>
            <a:ext cx="670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b="0" i="1" dirty="0">
                <a:solidFill>
                  <a:srgbClr val="595959"/>
                </a:solidFill>
              </a:rPr>
              <a:t>Frame: </a:t>
            </a:r>
            <a:r>
              <a:rPr sz="1200" b="0" i="1" dirty="0">
                <a:solidFill>
                  <a:srgbClr val="595959"/>
                </a:solidFill>
              </a:rPr>
              <a:t>006942</a:t>
            </a:r>
          </a:p>
        </p:txBody>
      </p:sp>
      <p:sp>
        <p:nvSpPr>
          <p:cNvPr id="900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120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6485A-1B65-7179-B850-366B10483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Q3: Why fuse camera and lidar?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EC9CA5-DAFE-AE78-3937-E6BD0A9D88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0000"/>
            <a:ext cx="10515600" cy="2000000"/>
          </a:xfrm>
        </p:spPr>
        <p:txBody>
          <a:bodyPr wrap="square"/>
          <a:lstStyle/>
          <a:p>
            <a:r>
              <a:rPr sz="1900"/>
              <a:t>Goal: know what is around the vehicle and how far away it is</a:t>
            </a:r>
          </a:p>
          <a:p>
            <a:pPr>
              <a:spcBef>
                <a:spcPts val="500"/>
              </a:spcBef>
            </a:pPr>
            <a:r>
              <a:rPr sz="1900"/>
              <a:t>Camera: projects the 3D scene onto a 2D image, so depth is lost (but it shows WHAT: color, shape, class)</a:t>
            </a:r>
          </a:p>
          <a:p>
            <a:pPr>
              <a:spcBef>
                <a:spcPts val="500"/>
              </a:spcBef>
            </a:pPr>
            <a:r>
              <a:rPr sz="1900"/>
              <a:t>Lidar: measures HOW FAR with 3D points, but not what the object is</a:t>
            </a:r>
          </a:p>
          <a:p>
            <a:pPr>
              <a:spcBef>
                <a:spcPts val="500"/>
              </a:spcBef>
            </a:pPr>
            <a:r>
              <a:rPr sz="1900"/>
              <a:t>Fusion links the two: every detected object gets a distance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8200" y="3750000"/>
            <a:ext cx="2950000" cy="1100000"/>
          </a:xfrm>
          <a:prstGeom prst="roundRect">
            <a:avLst/>
          </a:prstGeom>
          <a:solidFill>
            <a:srgbClr val="E8EEF7"/>
          </a:solidFill>
          <a:ln w="19050"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000000"/>
                </a:solidFill>
              </a:rPr>
              <a:t>Camera</a:t>
            </a:r>
          </a:p>
          <a:p>
            <a:pPr algn="ctr"/>
            <a:r>
              <a:rPr sz="1300" b="0">
                <a:solidFill>
                  <a:srgbClr val="404040"/>
                </a:solidFill>
              </a:rPr>
              <a:t>WHAT: color, texture, class</a:t>
            </a:r>
          </a:p>
          <a:p>
            <a:pPr algn="ctr"/>
            <a:r>
              <a:rPr sz="1300" b="0">
                <a:solidFill>
                  <a:srgbClr val="404040"/>
                </a:solidFill>
              </a:rPr>
              <a:t>no distance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88200" y="3750000"/>
            <a:ext cx="2950000" cy="1100000"/>
          </a:xfrm>
          <a:prstGeom prst="roundRect">
            <a:avLst/>
          </a:prstGeom>
          <a:solidFill>
            <a:srgbClr val="E8EEF7"/>
          </a:solidFill>
          <a:ln w="19050"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000000"/>
                </a:solidFill>
              </a:rPr>
              <a:t>Lidar</a:t>
            </a:r>
          </a:p>
          <a:p>
            <a:pPr algn="ctr"/>
            <a:r>
              <a:rPr sz="1300" b="0">
                <a:solidFill>
                  <a:srgbClr val="404040"/>
                </a:solidFill>
              </a:rPr>
              <a:t>WHERE: exact 3D distance</a:t>
            </a:r>
          </a:p>
          <a:p>
            <a:pPr algn="ctr"/>
            <a:r>
              <a:rPr sz="1300" b="0">
                <a:solidFill>
                  <a:srgbClr val="404040"/>
                </a:solidFill>
              </a:rPr>
              <a:t>no color, sparse points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38200" y="3750000"/>
            <a:ext cx="2950000" cy="1100000"/>
          </a:xfrm>
          <a:prstGeom prst="roundRect">
            <a:avLst/>
          </a:prstGeom>
          <a:solidFill>
            <a:srgbClr val="DDEEDD"/>
          </a:solidFill>
          <a:ln w="190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000000"/>
                </a:solidFill>
              </a:rPr>
              <a:t>Fusion</a:t>
            </a:r>
          </a:p>
          <a:p>
            <a:pPr algn="ctr"/>
            <a:r>
              <a:rPr sz="1300" b="0">
                <a:solidFill>
                  <a:srgbClr val="404040"/>
                </a:solidFill>
              </a:rPr>
              <a:t>WHAT and HOW FAR</a:t>
            </a:r>
          </a:p>
          <a:p>
            <a:pPr algn="ctr"/>
            <a:r>
              <a:rPr sz="1300" b="0">
                <a:solidFill>
                  <a:srgbClr val="404040"/>
                </a:solidFill>
              </a:rPr>
              <a:t>object + distance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88200" y="3980000"/>
            <a:ext cx="1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2F5597"/>
                </a:solidFill>
              </a:rPr>
              <a:t>+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888200" y="4170000"/>
            <a:ext cx="700000" cy="26000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0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120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6786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Q3(b)(i): Lidar and camera, both ways</a:t>
            </a:r>
          </a:p>
        </p:txBody>
      </p:sp>
      <p:pic>
        <p:nvPicPr>
          <p:cNvPr id="3" name="Picture 2" descr="proj11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000" y="1500000"/>
            <a:ext cx="7500000" cy="249707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50000" y="4030000"/>
            <a:ext cx="7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 i="1">
                <a:solidFill>
                  <a:srgbClr val="595959"/>
                </a:solidFill>
              </a:rPr>
              <a:t>Lidar projected onto the camera image (frame 001100), color = distance z</a:t>
            </a:r>
          </a:p>
        </p:txBody>
      </p:sp>
      <p:pic>
        <p:nvPicPr>
          <p:cNvPr id="5" name="Picture 4" descr="bev11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0000" y="1450000"/>
            <a:ext cx="3847747" cy="390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00000" y="5370000"/>
            <a:ext cx="39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 i="1">
                <a:solidFill>
                  <a:srgbClr val="595959"/>
                </a:solidFill>
              </a:rPr>
              <a:t>Vice versa: lidar points colored with the image colors, seen from above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0000" y="4400000"/>
            <a:ext cx="7500000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 i="0" dirty="0">
                <a:solidFill>
                  <a:srgbClr val="2F5597"/>
                </a:solidFill>
              </a:rPr>
              <a:t>Lidar → image: </a:t>
            </a:r>
            <a:r>
              <a:rPr sz="1400" b="0" i="0" dirty="0"/>
              <a:t>every 3D point goes through </a:t>
            </a:r>
            <a:r>
              <a:rPr sz="1400" b="0" i="0" dirty="0" err="1"/>
              <a:t>Tr_velo_to_cam</a:t>
            </a:r>
            <a:r>
              <a:rPr sz="1400" b="0" i="0" dirty="0"/>
              <a:t>, R0_rect and P2 and lands on a pixel. Near points are blue, far points are red</a:t>
            </a:r>
          </a:p>
          <a:p>
            <a:pPr>
              <a:spcAft>
                <a:spcPts val="600"/>
              </a:spcAft>
            </a:pPr>
            <a:r>
              <a:rPr sz="1400" b="1" i="0" dirty="0">
                <a:solidFill>
                  <a:srgbClr val="2F5597"/>
                </a:solidFill>
              </a:rPr>
              <a:t>Image → lidar: </a:t>
            </a:r>
            <a:r>
              <a:rPr sz="1400" b="0" i="0" dirty="0"/>
              <a:t>the same pixel gives the point its color. Because the calibration is correct, the colors fit the shapes: cars, trees and the building wall</a:t>
            </a:r>
          </a:p>
        </p:txBody>
      </p:sp>
      <p:sp>
        <p:nvSpPr>
          <p:cNvPr id="900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120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Q3(b): How we measure the distance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0000" y="1600000"/>
            <a:ext cx="2450000" cy="1000000"/>
          </a:xfrm>
          <a:prstGeom prst="roundRect">
            <a:avLst/>
          </a:prstGeom>
          <a:solidFill>
            <a:srgbClr val="E8EEF7"/>
          </a:solidFill>
          <a:ln w="19050"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00000"/>
                </a:solidFill>
              </a:rPr>
              <a:t>1  Project</a:t>
            </a:r>
          </a:p>
          <a:p>
            <a:pPr algn="ctr"/>
            <a:r>
              <a:rPr sz="1300">
                <a:solidFill>
                  <a:srgbClr val="404040"/>
                </a:solidFill>
              </a:rPr>
              <a:t>lidar → pixels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960000" y="1970000"/>
            <a:ext cx="380000" cy="26000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3"/>
          <p:cNvSpPr/>
          <p:nvPr/>
        </p:nvSpPr>
        <p:spPr>
          <a:xfrm>
            <a:off x="3400000" y="1600000"/>
            <a:ext cx="2450000" cy="1000000"/>
          </a:xfrm>
          <a:prstGeom prst="roundRect">
            <a:avLst/>
          </a:prstGeom>
          <a:solidFill>
            <a:srgbClr val="E8EEF7"/>
          </a:solidFill>
          <a:ln w="19050"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00000"/>
                </a:solidFill>
              </a:rPr>
              <a:t>2  Detect</a:t>
            </a:r>
          </a:p>
          <a:p>
            <a:pPr algn="ctr"/>
            <a:r>
              <a:rPr sz="1300">
                <a:solidFill>
                  <a:srgbClr val="404040"/>
                </a:solidFill>
              </a:rPr>
              <a:t>YOLO boxes</a:t>
            </a:r>
          </a:p>
        </p:txBody>
      </p:sp>
      <p:sp>
        <p:nvSpPr>
          <p:cNvPr id="8" name="Right Arrow 4"/>
          <p:cNvSpPr/>
          <p:nvPr/>
        </p:nvSpPr>
        <p:spPr>
          <a:xfrm>
            <a:off x="5910000" y="1970000"/>
            <a:ext cx="380000" cy="26000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ight Arrow 4"/>
          <p:cNvSpPr/>
          <p:nvPr/>
        </p:nvSpPr>
        <p:spPr>
          <a:xfrm>
            <a:off x="8860000" y="1970000"/>
            <a:ext cx="380000" cy="26000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3"/>
          <p:cNvSpPr/>
          <p:nvPr/>
        </p:nvSpPr>
        <p:spPr>
          <a:xfrm>
            <a:off x="6350000" y="1600000"/>
            <a:ext cx="2450000" cy="1000000"/>
          </a:xfrm>
          <a:prstGeom prst="roundRect">
            <a:avLst/>
          </a:prstGeom>
          <a:solidFill>
            <a:srgbClr val="E8EEF7"/>
          </a:solidFill>
          <a:ln w="19050"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00000"/>
                </a:solidFill>
              </a:rPr>
              <a:t>3  Cluster</a:t>
            </a:r>
          </a:p>
          <a:p>
            <a:pPr algn="ctr"/>
            <a:r>
              <a:rPr sz="1300">
                <a:solidFill>
                  <a:srgbClr val="404040"/>
                </a:solidFill>
              </a:rPr>
              <a:t>DBSCAN per box</a:t>
            </a:r>
          </a:p>
        </p:txBody>
      </p:sp>
      <p:sp>
        <p:nvSpPr>
          <p:cNvPr id="11" name="Rounded Rectangle 3"/>
          <p:cNvSpPr/>
          <p:nvPr/>
        </p:nvSpPr>
        <p:spPr>
          <a:xfrm>
            <a:off x="9300000" y="1600000"/>
            <a:ext cx="2450000" cy="1000000"/>
          </a:xfrm>
          <a:prstGeom prst="roundRect">
            <a:avLst/>
          </a:prstGeom>
          <a:solidFill>
            <a:srgbClr val="E8EEF7"/>
          </a:solidFill>
          <a:ln w="19050"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00000"/>
                </a:solidFill>
              </a:rPr>
              <a:t>4  Distance</a:t>
            </a:r>
          </a:p>
          <a:p>
            <a:pPr algn="ctr"/>
            <a:r>
              <a:rPr sz="1300">
                <a:solidFill>
                  <a:srgbClr val="404040"/>
                </a:solidFill>
              </a:rPr>
              <a:t>center of the object cluster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0000" y="3039785"/>
            <a:ext cx="6700000" cy="1590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 dirty="0">
                <a:solidFill>
                  <a:srgbClr val="2F5597"/>
                </a:solidFill>
              </a:rPr>
              <a:t>Detect (YOLO): </a:t>
            </a:r>
            <a:r>
              <a:rPr lang="en-US" sz="1400" b="0" dirty="0"/>
              <a:t>We </a:t>
            </a:r>
            <a:r>
              <a:rPr lang="en-US" sz="1400" dirty="0"/>
              <a:t>used YOLO, </a:t>
            </a:r>
            <a:r>
              <a:rPr lang="en-US" sz="1400" b="0" dirty="0"/>
              <a:t>which </a:t>
            </a:r>
            <a:r>
              <a:rPr sz="1400" b="0" dirty="0"/>
              <a:t>gives boxes, classes and confidence. We keep cars, trucks, people and cyclists with confidence ≥ 0.4. We use it as it is, without training</a:t>
            </a: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2F5597"/>
                </a:solidFill>
              </a:rPr>
              <a:t>Cluster: </a:t>
            </a:r>
            <a:r>
              <a:rPr sz="1400" b="0" dirty="0"/>
              <a:t>inside each YOLO box, the lidar points that lie close together (DBSCAN) form one object. Points on the wall behind the car form another cluster and are ignored</a:t>
            </a: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2F5597"/>
                </a:solidFill>
              </a:rPr>
              <a:t>Distance: </a:t>
            </a:r>
            <a:r>
              <a:rPr sz="1400" b="0" dirty="0"/>
              <a:t>the middle of the cluster gives the distance 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00000" y="2900000"/>
            <a:ext cx="4300000" cy="3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2F5597"/>
                </a:solidFill>
              </a:rPr>
              <a:t>Example: the car at 26.2 m</a:t>
            </a:r>
          </a:p>
          <a:p>
            <a:pPr>
              <a:spcAft>
                <a:spcPts val="800"/>
              </a:spcAft>
            </a:pPr>
            <a:r>
              <a:rPr sz="1500" b="0"/>
              <a:t>Label: 26.2 m</a:t>
            </a:r>
          </a:p>
          <a:p>
            <a:pPr>
              <a:spcAft>
                <a:spcPts val="800"/>
              </a:spcAft>
            </a:pPr>
            <a:r>
              <a:rPr sz="1500" b="0"/>
              <a:t>Lidar estimate: 24.3 m</a:t>
            </a:r>
          </a:p>
          <a:p>
            <a:pPr>
              <a:spcAft>
                <a:spcPts val="800"/>
              </a:spcAft>
            </a:pPr>
            <a:r>
              <a:rPr sz="1500" b="0"/>
              <a:t>Difference −1.9 m ≈ half the car length (4.08 m / 2)</a:t>
            </a:r>
          </a:p>
          <a:p>
            <a:pPr>
              <a:spcAft>
                <a:spcPts val="800"/>
              </a:spcAft>
            </a:pPr>
            <a:r>
              <a:rPr sz="1500" b="0"/>
              <a:t>Lidar hits the back of the car, the label marks its center</a:t>
            </a:r>
          </a:p>
        </p:txBody>
      </p:sp>
      <p:sp>
        <p:nvSpPr>
          <p:cNvPr id="900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120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Q3(b)(ii): Detection + lidar distance</a:t>
            </a:r>
          </a:p>
        </p:txBody>
      </p:sp>
      <p:pic>
        <p:nvPicPr>
          <p:cNvPr id="3" name="Picture 2" descr="det11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000" y="1500000"/>
            <a:ext cx="7300000" cy="242622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50000" y="3960000"/>
            <a:ext cx="73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 i="1">
                <a:solidFill>
                  <a:srgbClr val="595959"/>
                </a:solidFill>
              </a:rPr>
              <a:t>YOLO boxes, color and label = lidar distance (frame 001100)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0" y="537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 i="1">
                <a:solidFill>
                  <a:srgbClr val="595959"/>
                </a:solidFill>
              </a:rPr>
              <a:t>DBSCAN clusters (colors) with centroids (×), top 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0000" y="4350000"/>
            <a:ext cx="7300000" cy="2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 i="0" dirty="0">
                <a:solidFill>
                  <a:srgbClr val="2F5597"/>
                </a:solidFill>
              </a:rPr>
              <a:t>Boxes: </a:t>
            </a:r>
            <a:r>
              <a:rPr sz="1400" b="0" i="0" dirty="0"/>
              <a:t>YOLO finds 7 cars, a bicycle and a person; each box gets the distance of its lidar cluster, e.g. 8.0 m for the nearest car</a:t>
            </a:r>
          </a:p>
          <a:p>
            <a:pPr>
              <a:spcAft>
                <a:spcPts val="600"/>
              </a:spcAft>
            </a:pPr>
            <a:r>
              <a:rPr sz="1400" b="1" i="0" dirty="0">
                <a:solidFill>
                  <a:srgbClr val="2F5597"/>
                </a:solidFill>
              </a:rPr>
              <a:t>Clusters: </a:t>
            </a:r>
            <a:r>
              <a:rPr sz="1400" b="0" i="0" dirty="0"/>
              <a:t>inside each box the lidar points that lie close together form one cluster. The centroid (×) gives the distance</a:t>
            </a:r>
          </a:p>
          <a:p>
            <a:pPr>
              <a:spcAft>
                <a:spcPts val="600"/>
              </a:spcAft>
            </a:pPr>
            <a:r>
              <a:rPr sz="1400" b="1" i="0" dirty="0">
                <a:solidFill>
                  <a:srgbClr val="2F5597"/>
                </a:solidFill>
              </a:rPr>
              <a:t>Far objects: </a:t>
            </a:r>
            <a:r>
              <a:rPr sz="1400" b="0" i="0" dirty="0"/>
              <a:t>a car at 46.5 m has only 9 lidar points, but it is still found (error −0.55 m)</a:t>
            </a:r>
          </a:p>
        </p:txBody>
      </p:sp>
      <p:pic>
        <p:nvPicPr>
          <p:cNvPr id="8" name="Picture 7" descr="fusion_001100_clust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0000" y="1450000"/>
            <a:ext cx="3838396" cy="3900000"/>
          </a:xfrm>
          <a:prstGeom prst="rect">
            <a:avLst/>
          </a:prstGeom>
        </p:spPr>
      </p:pic>
      <p:sp>
        <p:nvSpPr>
          <p:cNvPr id="900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120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Q3(b)(iii): Validation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00000" y="1500000"/>
          <a:ext cx="5800000" cy="2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r>
                        <a:rPr sz="1300"/>
                        <a:t>Metric (25 objects, 5 frames)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sz="1300"/>
                        <a:t>Mean absolute error (MAE)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1.11 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sz="1300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1.40 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sz="1300"/>
                        <a:t>Bias (estimate − label)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−1.09 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sz="1300"/>
                        <a:t>Relative 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8.0 %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sz="1300"/>
                        <a:t>Within 1 m / within 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14 / 22 of 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sz="1300"/>
                        <a:t>Negative errors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22 of 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00000" y="4150000"/>
            <a:ext cx="5800000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 i="0" dirty="0">
                <a:solidFill>
                  <a:srgbClr val="2F5597"/>
                </a:solidFill>
              </a:rPr>
              <a:t>Small objects: </a:t>
            </a:r>
            <a:r>
              <a:rPr sz="1300" b="0" i="0" dirty="0"/>
              <a:t>person −0.06 m, cyclist +0.01 m, because they are thin</a:t>
            </a:r>
          </a:p>
          <a:p>
            <a:pPr>
              <a:spcAft>
                <a:spcPts val="600"/>
              </a:spcAft>
            </a:pPr>
            <a:r>
              <a:rPr sz="1300" b="1" i="0" dirty="0">
                <a:solidFill>
                  <a:srgbClr val="2F5597"/>
                </a:solidFill>
              </a:rPr>
              <a:t>Worst case: </a:t>
            </a:r>
            <a:r>
              <a:rPr sz="1300" b="0" i="0" dirty="0"/>
              <a:t>−3.2 m, a car with a poor box match 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sz="1300" b="1" i="0" dirty="0">
                <a:solidFill>
                  <a:srgbClr val="2F5597"/>
                </a:solidFill>
              </a:rPr>
              <a:t>Limit: </a:t>
            </a:r>
            <a:r>
              <a:rPr sz="1300" b="0" i="0" dirty="0"/>
              <a:t>we only validate objects that YOLO found (recall is not measured)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0000" y="5500000"/>
            <a:ext cx="5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 i="1">
                <a:solidFill>
                  <a:srgbClr val="595959"/>
                </a:solidFill>
              </a:rPr>
              <a:t>Points below the dashed line: lidar closer than the label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000" y="1450000"/>
            <a:ext cx="3877214" cy="4000000"/>
          </a:xfrm>
          <a:prstGeom prst="rect">
            <a:avLst/>
          </a:prstGeom>
        </p:spPr>
      </p:pic>
      <p:sp>
        <p:nvSpPr>
          <p:cNvPr id="900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120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E3F1F-5851-8757-4E9B-1EBDCB1E0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Q4: Navigation and slip estimation</a:t>
            </a:r>
          </a:p>
        </p:txBody>
      </p:sp>
      <p:pic>
        <p:nvPicPr>
          <p:cNvPr id="5" name="Video 4">
            <a:hlinkClick r:id="" action="ppaction://media"/>
            <a:extLst>
              <a:ext uri="{FF2B5EF4-FFF2-40B4-BE49-F238E27FC236}">
                <a16:creationId xmlns:a16="http://schemas.microsoft.com/office/drawing/2014/main" id="{D3FD42D3-9EFD-EBFE-97FE-8FE58BA7ED1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096000" y="1790301"/>
            <a:ext cx="5848883" cy="438666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79DF01BB-1F14-E7F6-9C38-E586737C53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00000"/>
                <a:ext cx="5000000" cy="4800000"/>
              </a:xfrm>
            </p:spPr>
            <p:txBody>
              <a:bodyPr/>
              <a:lstStyle/>
              <a:p>
                <a:r>
                  <a:rPr lang="en-US" sz="2000" dirty="0"/>
                  <a:t>Robot: Rosey, differential drive</a:t>
                </a:r>
              </a:p>
              <a:p>
                <a:pPr lvl="1"/>
                <a:r>
                  <a:rPr lang="en-US" sz="1600" dirty="0"/>
                  <a:t>Lidar + wheel encoders</a:t>
                </a:r>
              </a:p>
              <a:p>
                <a:pPr>
                  <a:spcBef>
                    <a:spcPts val="800"/>
                  </a:spcBef>
                </a:pPr>
                <a:r>
                  <a:rPr lang="en-US" sz="2000" dirty="0"/>
                  <a:t>Task: drive to the green cylinder</a:t>
                </a:r>
              </a:p>
              <a:p>
                <a:pPr lvl="1"/>
                <a:r>
                  <a:rPr lang="en-US" sz="1600" dirty="0"/>
                  <a:t>Goal found in the lidar scan</a:t>
                </a:r>
              </a:p>
              <a:p>
                <a:pPr lvl="1"/>
                <a:r>
                  <a:rPr lang="en-US" sz="1600" dirty="0"/>
                  <a:t>Obstacles avoided with a free-corridor check</a:t>
                </a:r>
              </a:p>
              <a:p>
                <a:pPr>
                  <a:spcBef>
                    <a:spcPts val="800"/>
                  </a:spcBef>
                </a:pPr>
                <a:r>
                  <a:rPr lang="en-US" sz="2000" dirty="0"/>
                  <a:t>Longitudinal slip</a:t>
                </a:r>
              </a:p>
              <a:p>
                <a:pPr lvl="1">
                  <a:spcBef>
                    <a:spcPts val="800"/>
                  </a:spcBef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𝑒𝑛𝑐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den>
                    </m:f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𝑒𝑛𝑐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lang="en-US" sz="16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lang="en-US" sz="1600" dirty="0"/>
                  <a:t>true speed from the </a:t>
                </a:r>
                <a:r>
                  <a:rPr lang="en-US" sz="1600" dirty="0" err="1"/>
                  <a:t>Webots</a:t>
                </a:r>
                <a:r>
                  <a:rPr lang="en-US" sz="1600" dirty="0"/>
                  <a:t> simulation</a:t>
                </a:r>
              </a:p>
              <a:p>
                <a:pPr>
                  <a:spcBef>
                    <a:spcPts val="800"/>
                  </a:spcBef>
                </a:pPr>
                <a:r>
                  <a:rPr lang="en-US" sz="2000" dirty="0"/>
                  <a:t>Two runs, only friction differs</a:t>
                </a:r>
              </a:p>
              <a:p>
                <a:pPr lvl="1"/>
                <a:r>
                  <a:rPr lang="en-US" sz="1600" dirty="0"/>
                  <a:t>Baseline: Coulomb friction 0.3</a:t>
                </a:r>
              </a:p>
              <a:p>
                <a:pPr lvl="1"/>
                <a:r>
                  <a:rPr lang="en-US" sz="1600" dirty="0"/>
                  <a:t>Low slip: Coulomb friction 0.9</a:t>
                </a:r>
                <a:endParaRPr sz="1600" dirty="0"/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79DF01BB-1F14-E7F6-9C38-E586737C53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00000"/>
                <a:ext cx="5000000" cy="4800000"/>
              </a:xfrm>
              <a:blipFill>
                <a:blip r:embed="rId5"/>
                <a:stretch>
                  <a:fillRect l="-1098" t="-11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0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120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222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172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6">
            <a:extLst>
              <a:ext uri="{FF2B5EF4-FFF2-40B4-BE49-F238E27FC236}">
                <a16:creationId xmlns:a16="http://schemas.microsoft.com/office/drawing/2014/main" id="{16070371-8774-66D8-0A41-BF201078C8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450000" y="1500000"/>
            <a:ext cx="7300000" cy="27375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54ABA2F4-1B44-D43C-6A92-B4E74C9CC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78497" cy="1325563"/>
          </a:xfrm>
        </p:spPr>
        <p:txBody>
          <a:bodyPr/>
          <a:lstStyle/>
          <a:p>
            <a:r>
              <a:rPr lang="en-US" dirty="0"/>
              <a:t>Q4: Slip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0" y="1500000"/>
            <a:ext cx="3900000" cy="2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/>
              <a:t>• Baseline (μ = 0.3): slip swings from +22 % to −71 %, mostly when the robot brakes for the target</a:t>
            </a:r>
          </a:p>
          <a:p>
            <a:pPr>
              <a:spcAft>
                <a:spcPts val="600"/>
              </a:spcAft>
            </a:pPr>
            <a:r>
              <a:rPr sz="1500"/>
              <a:t>• Low slip (μ = 0.9): slip stays near 0 apart from one short braking spike</a:t>
            </a:r>
          </a:p>
          <a:p>
            <a:pPr>
              <a:spcAft>
                <a:spcPts val="600"/>
              </a:spcAft>
            </a:pPr>
            <a:r>
              <a:rPr sz="1500"/>
              <a:t>• With low friction the wheel speed no longer matches the true speed, so encoder odometry is unreliable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38200" y="4650000"/>
          <a:ext cx="105156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0000">
                <a:tc>
                  <a:txBody>
                    <a:bodyPr/>
                    <a:lstStyle/>
                    <a:p>
                      <a:pPr algn="l"/>
                      <a:r>
                        <a:rPr sz="1400" b="1"/>
                        <a:t>Metric</a:t>
                      </a:r>
                    </a:p>
                  </a:txBody>
                  <a:tcPr marT="20000" marB="2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Baseline (μ = 0.3)</a:t>
                      </a:r>
                    </a:p>
                  </a:txBody>
                  <a:tcPr marT="20000" marB="2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Low slip (μ = 0.9)</a:t>
                      </a:r>
                    </a:p>
                  </a:txBody>
                  <a:tcPr marT="20000" marB="200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l"/>
                      <a:r>
                        <a:rPr sz="1400" b="0"/>
                        <a:t>Time to goal</a:t>
                      </a:r>
                    </a:p>
                  </a:txBody>
                  <a:tcPr marT="20000" marB="2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21.7 s</a:t>
                      </a:r>
                    </a:p>
                  </a:txBody>
                  <a:tcPr marT="20000" marB="2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19.6 s</a:t>
                      </a:r>
                    </a:p>
                  </a:txBody>
                  <a:tcPr marT="20000" marB="20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l"/>
                      <a:r>
                        <a:rPr sz="1400" b="0"/>
                        <a:t>Mean slip</a:t>
                      </a:r>
                    </a:p>
                  </a:txBody>
                  <a:tcPr marT="20000" marB="2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−8.3 %</a:t>
                      </a:r>
                    </a:p>
                  </a:txBody>
                  <a:tcPr marT="20000" marB="2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−0.6 %</a:t>
                      </a:r>
                    </a:p>
                  </a:txBody>
                  <a:tcPr marT="20000" marB="20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l"/>
                      <a:r>
                        <a:rPr sz="1400" b="0"/>
                        <a:t>Mean |slip|</a:t>
                      </a:r>
                    </a:p>
                  </a:txBody>
                  <a:tcPr marT="20000" marB="2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11.9 %</a:t>
                      </a:r>
                    </a:p>
                  </a:txBody>
                  <a:tcPr marT="20000" marB="2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0.7 %</a:t>
                      </a:r>
                    </a:p>
                  </a:txBody>
                  <a:tcPr marT="20000" marB="20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l"/>
                      <a:r>
                        <a:rPr sz="1400" b="0"/>
                        <a:t>Peak slip</a:t>
                      </a:r>
                    </a:p>
                  </a:txBody>
                  <a:tcPr marT="20000" marB="2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−71 %</a:t>
                      </a:r>
                    </a:p>
                  </a:txBody>
                  <a:tcPr marT="20000" marB="2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−38 %</a:t>
                      </a:r>
                    </a:p>
                  </a:txBody>
                  <a:tcPr marT="20000" marB="20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l"/>
                      <a:r>
                        <a:rPr sz="1400" b="0"/>
                        <a:t>Time with |slip| &lt; 5 %</a:t>
                      </a:r>
                    </a:p>
                  </a:txBody>
                  <a:tcPr marT="20000" marB="2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51 %</a:t>
                      </a:r>
                    </a:p>
                  </a:txBody>
                  <a:tcPr marT="20000" marB="2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98 %</a:t>
                      </a:r>
                    </a:p>
                  </a:txBody>
                  <a:tcPr marT="20000" marB="20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00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120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3480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2351</TotalTime>
  <Words>2605</Words>
  <Application>Microsoft Office PowerPoint</Application>
  <PresentationFormat>Widescreen</PresentationFormat>
  <Paragraphs>340</Paragraphs>
  <Slides>24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Aptos</vt:lpstr>
      <vt:lpstr>Aptos Display</vt:lpstr>
      <vt:lpstr>Arial</vt:lpstr>
      <vt:lpstr>Cambria Math</vt:lpstr>
      <vt:lpstr>Office Theme</vt:lpstr>
      <vt:lpstr>MAS512 Assignment 2</vt:lpstr>
      <vt:lpstr>Q1: Camera image to 3D position</vt:lpstr>
      <vt:lpstr>Q1(a)(b): Three camera matrices</vt:lpstr>
      <vt:lpstr>Q1(b): How far apart are they?</vt:lpstr>
      <vt:lpstr>Q1(c): Swing plane and radius</vt:lpstr>
      <vt:lpstr>Q1(d): Network from o1 to o2</vt:lpstr>
      <vt:lpstr>Q1(d): Accuracy on the test frames</vt:lpstr>
      <vt:lpstr>Q1(e): Euclidean errors</vt:lpstr>
      <vt:lpstr>Q2(a): Finding the centre of the load</vt:lpstr>
      <vt:lpstr>Q2(a): A pendulum swing</vt:lpstr>
      <vt:lpstr>Q2(b): KISS-ICP</vt:lpstr>
      <vt:lpstr>Q2(b): KISS-ICP vs the centroid</vt:lpstr>
      <vt:lpstr>Q2(b): Pose and what to trust</vt:lpstr>
      <vt:lpstr>Q3(a): KITTI sensors</vt:lpstr>
      <vt:lpstr>Q3(a): One frame, two views</vt:lpstr>
      <vt:lpstr>Q3(a): Calibration files</vt:lpstr>
      <vt:lpstr>Q3(a): Labels = ground truth</vt:lpstr>
      <vt:lpstr>Q3: Why fuse camera and lidar?</vt:lpstr>
      <vt:lpstr>Q3(b)(i): Lidar and camera, both ways</vt:lpstr>
      <vt:lpstr>Q3(b): How we measure the distance</vt:lpstr>
      <vt:lpstr>Q3(b)(ii): Detection + lidar distance</vt:lpstr>
      <vt:lpstr>Q3(b)(iii): Validation</vt:lpstr>
      <vt:lpstr>Q4: Navigation and slip estimation</vt:lpstr>
      <vt:lpstr>Q4: Slip 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Steenfeldtgj@gmail.com</dc:creator>
  <cp:lastModifiedBy>Are Gundersen</cp:lastModifiedBy>
  <cp:revision>10</cp:revision>
  <dcterms:created xsi:type="dcterms:W3CDTF">2026-10-24T09:43:31Z</dcterms:created>
  <dcterms:modified xsi:type="dcterms:W3CDTF">2026-10-26T18:32:38Z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95cf23d-70b0-4a80-9221-1d774ac27fb2_Enabled">
    <vt:lpwstr>true</vt:lpwstr>
  </property>
  <property fmtid="{D5CDD505-2E9C-101B-9397-08002B2CF9AE}" pid="3" name="MSIP_Label_695cf23d-70b0-4a80-9221-1d774ac27fb2_SetDate">
    <vt:lpwstr>2026-10-24T19:33:22Z</vt:lpwstr>
  </property>
  <property fmtid="{D5CDD505-2E9C-101B-9397-08002B2CF9AE}" pid="4" name="MSIP_Label_695cf23d-70b0-4a80-9221-1d774ac27fb2_Method">
    <vt:lpwstr>Standard</vt:lpwstr>
  </property>
  <property fmtid="{D5CDD505-2E9C-101B-9397-08002B2CF9AE}" pid="5" name="MSIP_Label_695cf23d-70b0-4a80-9221-1d774ac27fb2_Name">
    <vt:lpwstr>Document internal</vt:lpwstr>
  </property>
  <property fmtid="{D5CDD505-2E9C-101B-9397-08002B2CF9AE}" pid="6" name="MSIP_Label_695cf23d-70b0-4a80-9221-1d774ac27fb2_SiteId">
    <vt:lpwstr>8482881e-3699-4b3f-b135-cf4800bc1efb</vt:lpwstr>
  </property>
  <property fmtid="{D5CDD505-2E9C-101B-9397-08002B2CF9AE}" pid="7" name="MSIP_Label_695cf23d-70b0-4a80-9221-1d774ac27fb2_ActionId">
    <vt:lpwstr>404bb754-58de-4d83-8af7-729a416d426c</vt:lpwstr>
  </property>
  <property fmtid="{D5CDD505-2E9C-101B-9397-08002B2CF9AE}" pid="8" name="MSIP_Label_695cf23d-70b0-4a80-9221-1d774ac27fb2_ContentBits">
    <vt:lpwstr>0</vt:lpwstr>
  </property>
  <property fmtid="{D5CDD505-2E9C-101B-9397-08002B2CF9AE}" pid="9" name="MSIP_Label_695cf23d-70b0-4a80-9221-1d774ac27fb2_Tag">
    <vt:lpwstr>10, 3, 0, 1</vt:lpwstr>
  </property>
</Properties>
</file>