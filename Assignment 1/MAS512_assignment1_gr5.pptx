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3" r:id="rId13"/>
    <p:sldId id="274" r:id="rId14"/>
    <p:sldId id="275" r:id="rId15"/>
    <p:sldId id="276" r:id="rId16"/>
    <p:sldId id="267" r:id="rId17"/>
    <p:sldId id="272" r:id="rId18"/>
    <p:sldId id="268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1" autoAdjust="0"/>
    <p:restoredTop sz="94610"/>
  </p:normalViewPr>
  <p:slideViewPr>
    <p:cSldViewPr snapToGrid="0" snapToObjects="1">
      <p:cViewPr>
        <p:scale>
          <a:sx n="139" d="100"/>
          <a:sy n="139" d="100"/>
        </p:scale>
        <p:origin x="663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066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MAS512 · Assignment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detection, tracking,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 and classification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·  University of Agder  ·  Autumn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123942"/>
            <a:ext cx="4572000" cy="347473"/>
          </a:xfrm>
          <a:prstGeom prst="roundRect">
            <a:avLst>
              <a:gd name="adj" fmla="val 1333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solid"/>
          </a:ln>
        </p:spPr>
        <p:txBody>
          <a:bodyPr/>
          <a:lstStyle/>
          <a:p>
            <a:pPr algn="ctr"/>
            <a:r>
              <a:rPr lang="en-GB" sz="1200" dirty="0"/>
              <a:t>Are Gundersen, Sebastian Steenfeldt-Gjersøe</a:t>
            </a:r>
          </a:p>
        </p:txBody>
      </p:sp>
      <p:sp>
        <p:nvSpPr>
          <p:cNvPr id="7" name="Shape 5"/>
          <p:cNvSpPr/>
          <p:nvPr/>
        </p:nvSpPr>
        <p:spPr>
          <a:xfrm>
            <a:off x="630936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3093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672084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672084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713232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7132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88" dirty="0"/>
          </a:p>
        </p:txBody>
      </p:sp>
      <p:sp>
        <p:nvSpPr>
          <p:cNvPr id="13" name="Shape 11"/>
          <p:cNvSpPr/>
          <p:nvPr/>
        </p:nvSpPr>
        <p:spPr>
          <a:xfrm>
            <a:off x="754380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75438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88" dirty="0"/>
          </a:p>
        </p:txBody>
      </p:sp>
      <p:sp>
        <p:nvSpPr>
          <p:cNvPr id="15" name="Shape 13"/>
          <p:cNvSpPr/>
          <p:nvPr/>
        </p:nvSpPr>
        <p:spPr>
          <a:xfrm>
            <a:off x="795528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795528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88" dirty="0"/>
          </a:p>
        </p:txBody>
      </p:sp>
      <p:sp>
        <p:nvSpPr>
          <p:cNvPr id="17" name="Shape 15"/>
          <p:cNvSpPr/>
          <p:nvPr/>
        </p:nvSpPr>
        <p:spPr>
          <a:xfrm>
            <a:off x="836676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83667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8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&amp; depth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YOLO on L515 frames of a swinging load; KPIs, boxes, depth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47472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347472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in test_swingingload.avi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0936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 txBox="1"/>
          <p:nvPr/>
        </p:nvSpPr>
        <p:spPr>
          <a:xfrm>
            <a:off x="63093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Multi-object segmentation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count, track persons; count inside a region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 txBox="1"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state-of-health model vs. class baseline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347472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 txBox="1"/>
          <p:nvPr/>
        </p:nvSpPr>
        <p:spPr>
          <a:xfrm>
            <a:off x="347472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70" dirty="0"/>
          </a:p>
        </p:txBody>
      </p:sp>
      <p:sp>
        <p:nvSpPr>
          <p:cNvPr id="30" name="Text 28"/>
          <p:cNvSpPr txBox="1"/>
          <p:nvPr/>
        </p:nvSpPr>
        <p:spPr>
          <a:xfrm>
            <a:off x="402336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classification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fusion, transfer learning, fine-tuning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30936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 txBox="1"/>
          <p:nvPr/>
        </p:nvSpPr>
        <p:spPr>
          <a:xfrm>
            <a:off x="630936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7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compression &amp; reconstruction of fault images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and depth estimation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19"/>
            <a:ext cx="3931920" cy="187156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swinging load in RGB frames from the Intel RealSense L515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validate a YOLO model (YOLO_swinging_load.pt) on a 30 s recording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an independent 5 s test recording and read out depth at the load centre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188720"/>
            <a:ext cx="4114800" cy="1871564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480060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7556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Train/val: rgb_train_val_swingingload.avi → PNG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test_swingingload.avi → RGB frames + raw depth (.npy)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class: Payload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51725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57200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L515 video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73352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856232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1856232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72384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255264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3255264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Auto-annotate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(background subtraction)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54296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4654296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 train / val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70448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053328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 txBox="1"/>
          <p:nvPr/>
        </p:nvSpPr>
        <p:spPr>
          <a:xfrm>
            <a:off x="6053328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52360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 txBox="1"/>
          <p:nvPr/>
        </p:nvSpPr>
        <p:spPr>
          <a:xfrm>
            <a:off x="7452360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depth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Script: Q1_ObjectDetection.py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annotation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B = per-pixel median over all grayscale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|I − B| smoothed with Gaussian (σ = 1.5)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with diff &gt; 55 marked as moving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(rope, shadows) removed: keep pixels within 70 px of the mean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= extent of remaining pixels → YOLO label (class 0, normalised cx, cy, w, 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training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train frames shuffled, 20 % held out for validation (seed 0)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data.yaml with train / val / test splits, 1 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model: yolo11n.pt (pretrained on COCO)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imgsz 640, batch 32, up to 100 epochs, early stopping patience 10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weights saved as YOLO_swinging_load.pt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3383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6537960" y="13533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55648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model.val() on the test split → precision, recall, mAP50, mAP50-95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most confident box per frame, conf ≥ 0.5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Depth: median of a 5×5 window around the box centre in the raw depth frame, × 0.00025 m/unit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Why automatic annotation: one moving object on a static background makes background subtraction reliable and saves manual labelling of hundreds of frames.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(a) — performance on the test set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0.887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100" dirty="0"/>
          </a:p>
        </p:txBody>
      </p:sp>
      <p:pic>
        <p:nvPicPr>
          <p:cNvPr id="13" name="Image 0" descr="/home/claude/deck/pr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2468880"/>
            <a:ext cx="4023360" cy="2194560"/>
          </a:xfrm>
          <a:prstGeom prst="rect">
            <a:avLst/>
          </a:prstGeom>
        </p:spPr>
      </p:pic>
      <p:pic>
        <p:nvPicPr>
          <p:cNvPr id="14" name="Image 1" descr="/home/claude/deck/cm_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2468880"/>
            <a:ext cx="4023360" cy="21945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P and R reported at the F1-optimal confidence (0.52). Confusion matrix (conf 0.25): 147 detected, 3 missed, 6 false positives of 150 test frames.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(b) &amp; (c) — boxes, centres and depth</a:t>
            </a:r>
            <a:endParaRPr lang="en-US" sz="2800" dirty="0"/>
          </a:p>
        </p:txBody>
      </p:sp>
      <p:pic>
        <p:nvPicPr>
          <p:cNvPr id="5" name="Image 0" descr="/home/claude/deck/q1b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143000"/>
            <a:ext cx="8229600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926080"/>
            <a:ext cx="3931920" cy="185166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 txBox="1"/>
          <p:nvPr/>
        </p:nvSpPr>
        <p:spPr>
          <a:xfrm>
            <a:off x="685800" y="3090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Centre &amp; depth for all test frames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93008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detected in 147 of 150 frames (missed frames 101, 106, 107)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depth in 145 frames (0 = no L515 measurement)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2.73 – 3.86 m (median 3.16 m); the swing period is visible in both centre_x and depth</a:t>
            </a:r>
            <a:endParaRPr lang="en-US" sz="1200" dirty="0"/>
          </a:p>
        </p:txBody>
      </p:sp>
      <p:pic>
        <p:nvPicPr>
          <p:cNvPr id="9" name="Image 1" descr="/home/claude/deck/q1c_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0" y="2880360"/>
            <a:ext cx="4114800" cy="18973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Depth read from depth_raw/*.npy (not the depth video) to avoid colour-map quantisation. Full table: runs/q1c_center_depth.csv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 — load trajectory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19456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1737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load through every frame of test_swingingload.avi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trajectory in the image plane, as in the reference figure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88920" y="1188720"/>
            <a:ext cx="2514600" cy="3429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017520" y="13533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755648"/>
            <a:ext cx="20574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YOLO_swinging_load.pt frame by frame (conf ≥ 0.5)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load → keep the most confident box per frame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frame, time, centre (cx, cy), box size and confidence to trajectory.csv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cx vs. cy coloured by frame index (viridis) with a thin connecting line; y-axis inverted to match image coordinates</a:t>
            </a:r>
            <a:endParaRPr lang="en-US" sz="1200" dirty="0"/>
          </a:p>
        </p:txBody>
      </p:sp>
      <p:pic>
        <p:nvPicPr>
          <p:cNvPr id="11" name="Image 0" descr="/home/claude/deck/traj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40680" y="1188720"/>
            <a:ext cx="3246120" cy="34290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Result: load detected in 150 of 150 frames (100 %) over 5.0 s; the trajectory traces the pendulum arc, with both swing directions overlapping. Script: Q2_ObjectTracking.py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Segmentation, tracking and counting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class chosen: COCO / person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with several people in the scene (pedestrians.mp4)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instance segmentation, (b) counting, (c) per-instance tracking, (d) counting inside a drawn region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tracker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yolo11n-seg.pt — pretrained on COCO-seg, no training needed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ByteTrack (persist=True) for stable IDs across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class 0 (person), conf ≥ 0.4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frame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57200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model.track()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+ boxes + IDs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53158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136038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2136038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count boxes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 unique IDs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31997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814877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3814877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centre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(cx, cy)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310835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93715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5493715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pointPolygonTest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region?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89674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72554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 txBox="1"/>
          <p:nvPr/>
        </p:nvSpPr>
        <p:spPr>
          <a:xfrm>
            <a:off x="7172554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region,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video out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Region = upper half of the frame, defined as a polygon so it scales with the video resolution. Notebook: Q3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5" name="Image 0" descr="/home/claude/deck/q3a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188720"/>
            <a:ext cx="1874520" cy="3246120"/>
          </a:xfrm>
          <a:prstGeom prst="rect">
            <a:avLst/>
          </a:prstGeom>
        </p:spPr>
      </p:pic>
      <p:pic>
        <p:nvPicPr>
          <p:cNvPr id="6" name="Image 1" descr="/home/claude/deck/q3b_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68880" y="1188720"/>
            <a:ext cx="1874520" cy="32461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4988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56 and 106 of q3_output.mp4 — masks and IDs (blue), region (magenta), centre dot green = inside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234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49377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persons tracked over 217 frames (b)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93776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persons in scene at once (b)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34290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persons inside region (d)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432×768 px, 25 fps, 8.7 s. Highest ID assigned is 19 while 14 were confirmed: ByteTrack drops short-lived tracks, and occlusions cause a few ID switches.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— motor state of health</a:t>
            </a:r>
            <a:endParaRPr lang="en-US" sz="2800"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046220" cy="1234440"/>
          </a:xfrm>
          <a:prstGeom prst="roundRect">
            <a:avLst>
              <a:gd name="adj" fmla="val 7416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Classify motor health: healthy or faulty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Compare our CNN with the class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0580" y="1097280"/>
            <a:ext cx="4046220" cy="1234440"/>
          </a:xfrm>
          <a:prstGeom prst="roundRect">
            <a:avLst>
              <a:gd name="adj" fmla="val 7416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1170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5448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60×175 RGB, 80/20 train/val + test set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Adam, LR 1e-4, 15 epochs — same for both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468880"/>
            <a:ext cx="8229600" cy="2148840"/>
          </a:xfrm>
          <a:prstGeom prst="roundRect">
            <a:avLst>
              <a:gd name="adj" fmla="val 4260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806315"/>
            <a:ext cx="141732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200" b="1" i="0" dirty="0">
                <a:solidFill>
                  <a:srgbClr val="23262F"/>
                </a:solidFill>
                <a:latin typeface="Cambria"/>
                <a:ea typeface="Cambria"/>
                <a:cs typeface="Cambria"/>
              </a:rPr>
              <a:t>Baseline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3580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100" b="1" i="0">
                <a:solidFill>
                  <a:srgbClr val="C97F17"/>
                </a:solidFill>
                <a:latin typeface="Calibri"/>
                <a:ea typeface="Calibri"/>
                <a:cs typeface="Calibri"/>
              </a:rPr>
              <a:t>9 339 parameters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48840" y="3035808"/>
            <a:ext cx="4882896" cy="0"/>
          </a:xfrm>
          <a:prstGeom prst="line">
            <a:avLst/>
          </a:prstGeom>
          <a:ln w="12700">
            <a:solidFill>
              <a:srgbClr val="9AA1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48840" y="2784348"/>
            <a:ext cx="182880" cy="502920"/>
          </a:xfrm>
          <a:prstGeom prst="roundRect">
            <a:avLst>
              <a:gd name="adj" fmla="val 18000"/>
            </a:avLst>
          </a:prstGeom>
          <a:solidFill>
            <a:srgbClr val="A9D6F0"/>
          </a:solidFill>
          <a:ln w="9525">
            <a:solidFill>
              <a:srgbClr val="6FB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28800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60×175×3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4016" y="2784348"/>
            <a:ext cx="182880" cy="502920"/>
          </a:xfrm>
          <a:prstGeom prst="roundRect">
            <a:avLst>
              <a:gd name="adj" fmla="val 18000"/>
            </a:avLst>
          </a:prstGeom>
          <a:solidFill>
            <a:srgbClr val="7E9BE0"/>
          </a:solidFill>
          <a:ln w="9525">
            <a:solidFill>
              <a:srgbClr val="5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679192" y="2784348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77440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80944" y="2843784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218688" y="2784348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16936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2843784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758184" y="2784348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56432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59936" y="2843784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297680" y="2784348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995928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99432" y="2843784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837176" y="2843784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E3DDF1"/>
          </a:solidFill>
          <a:ln w="9525">
            <a:solidFill>
              <a:srgbClr val="B6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047488" y="2784348"/>
            <a:ext cx="182880" cy="502920"/>
          </a:xfrm>
          <a:prstGeom prst="roundRect">
            <a:avLst>
              <a:gd name="adj" fmla="val 18000"/>
            </a:avLst>
          </a:prstGeom>
          <a:solidFill>
            <a:srgbClr val="C9C2E6"/>
          </a:solidFill>
          <a:ln w="9525">
            <a:solidFill>
              <a:srgbClr val="8F8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27448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144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12664" y="2843784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92624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2843784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57800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43016" y="2843784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22976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08192" y="2843784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788152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64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73368" y="2843784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53328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64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38544" y="2843784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DDE7F5"/>
          </a:solidFill>
          <a:ln w="9525">
            <a:solidFill>
              <a:srgbClr val="9FB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848856" y="2843784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9AA1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28816" y="2606040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52044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200" b="1" i="0">
                <a:solidFill>
                  <a:srgbClr val="23262F"/>
                </a:solidFill>
                <a:latin typeface="Cambria"/>
                <a:ea typeface="Cambria"/>
                <a:cs typeface="Cambria"/>
              </a:rPr>
              <a:t>Our model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3794760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100" b="1" i="0">
                <a:solidFill>
                  <a:srgbClr val="C97F17"/>
                </a:solidFill>
                <a:latin typeface="Calibri"/>
                <a:ea typeface="Calibri"/>
                <a:cs typeface="Calibri"/>
              </a:rPr>
              <a:t>6 594 parameters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148840" y="3794760"/>
            <a:ext cx="3072384" cy="0"/>
          </a:xfrm>
          <a:prstGeom prst="line">
            <a:avLst/>
          </a:prstGeom>
          <a:ln w="12700">
            <a:solidFill>
              <a:srgbClr val="9AA1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148840" y="3543300"/>
            <a:ext cx="182880" cy="502920"/>
          </a:xfrm>
          <a:prstGeom prst="roundRect">
            <a:avLst>
              <a:gd name="adj" fmla="val 18000"/>
            </a:avLst>
          </a:prstGeom>
          <a:solidFill>
            <a:srgbClr val="A9D6F0"/>
          </a:solidFill>
          <a:ln w="9525">
            <a:solidFill>
              <a:srgbClr val="6FB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828800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60×175×3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414016" y="3543300"/>
            <a:ext cx="182880" cy="502920"/>
          </a:xfrm>
          <a:prstGeom prst="roundRect">
            <a:avLst>
              <a:gd name="adj" fmla="val 18000"/>
            </a:avLst>
          </a:prstGeom>
          <a:solidFill>
            <a:srgbClr val="7E9BE0"/>
          </a:solidFill>
          <a:ln w="9525">
            <a:solidFill>
              <a:srgbClr val="5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2679192" y="3543300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377440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980944" y="3602736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3218688" y="3543300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16936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3602736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3758184" y="3543300"/>
            <a:ext cx="219456" cy="502920"/>
          </a:xfrm>
          <a:prstGeom prst="roundRect">
            <a:avLst>
              <a:gd name="adj" fmla="val 18000"/>
            </a:avLst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456432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59936" y="3602736"/>
            <a:ext cx="155448" cy="384048"/>
          </a:xfrm>
          <a:prstGeom prst="roundRect">
            <a:avLst>
              <a:gd name="adj" fmla="val 18000"/>
            </a:avLst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4297680" y="3543300"/>
            <a:ext cx="182880" cy="502920"/>
          </a:xfrm>
          <a:prstGeom prst="roundRect">
            <a:avLst>
              <a:gd name="adj" fmla="val 18000"/>
            </a:avLst>
          </a:prstGeom>
          <a:solidFill>
            <a:srgbClr val="F2A33C"/>
          </a:solidFill>
          <a:ln w="9525">
            <a:solidFill>
              <a:srgbClr val="C97F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977639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62856" y="3602736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42816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828032" y="3602736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DDE7F5"/>
          </a:solidFill>
          <a:ln w="9525">
            <a:solidFill>
              <a:srgbClr val="9FB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038344" y="3602736"/>
            <a:ext cx="18288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9AA1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718304" y="3364992"/>
            <a:ext cx="822960" cy="146304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indent="0" algn="ctr">
              <a:buNone/>
            </a:pPr>
            <a:r>
              <a:rPr sz="8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83680" y="36576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r">
              <a:buNone/>
            </a:pPr>
            <a:r>
              <a:rPr sz="900" b="0" i="1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Numbers = filters / units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5800" y="4279392"/>
            <a:ext cx="128016" cy="128016"/>
          </a:xfrm>
          <a:prstGeom prst="roundRect">
            <a:avLst/>
          </a:prstGeom>
          <a:solidFill>
            <a:srgbClr val="A9D6F0"/>
          </a:solidFill>
          <a:ln w="9525">
            <a:solidFill>
              <a:srgbClr val="6FB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59536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Input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72184" y="4279392"/>
            <a:ext cx="128016" cy="128016"/>
          </a:xfrm>
          <a:prstGeom prst="roundRect">
            <a:avLst/>
          </a:prstGeom>
          <a:solidFill>
            <a:srgbClr val="7E9BE0"/>
          </a:solidFill>
          <a:ln w="9525">
            <a:solidFill>
              <a:srgbClr val="5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645919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Normalise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58568" y="4279392"/>
            <a:ext cx="128016" cy="128016"/>
          </a:xfrm>
          <a:prstGeom prst="roundRect">
            <a:avLst/>
          </a:prstGeom>
          <a:solidFill>
            <a:srgbClr val="FCE3B6"/>
          </a:solidFill>
          <a:ln w="9525">
            <a:solidFill>
              <a:srgbClr val="E8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432303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Conv 3×3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044951" y="4279392"/>
            <a:ext cx="128016" cy="128016"/>
          </a:xfrm>
          <a:prstGeom prst="roundRect">
            <a:avLst/>
          </a:prstGeom>
          <a:solidFill>
            <a:srgbClr val="F6C9C9"/>
          </a:solidFill>
          <a:ln w="9525">
            <a:solidFill>
              <a:srgbClr val="DE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18687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MaxPool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31335" y="4279392"/>
            <a:ext cx="128016" cy="128016"/>
          </a:xfrm>
          <a:prstGeom prst="roundRect">
            <a:avLst/>
          </a:prstGeom>
          <a:solidFill>
            <a:srgbClr val="E3DDF1"/>
          </a:solidFill>
          <a:ln w="9525">
            <a:solidFill>
              <a:srgbClr val="B6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005072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BatchNorm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17720" y="4279392"/>
            <a:ext cx="128016" cy="128016"/>
          </a:xfrm>
          <a:prstGeom prst="roundRect">
            <a:avLst/>
          </a:prstGeom>
          <a:solidFill>
            <a:srgbClr val="C9C2E6"/>
          </a:solidFill>
          <a:ln w="9525">
            <a:solidFill>
              <a:srgbClr val="8F8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791456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Flatten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04104" y="4279392"/>
            <a:ext cx="128016" cy="128016"/>
          </a:xfrm>
          <a:prstGeom prst="roundRect">
            <a:avLst/>
          </a:prstGeom>
          <a:solidFill>
            <a:srgbClr val="F2A33C"/>
          </a:solidFill>
          <a:ln w="9525">
            <a:solidFill>
              <a:srgbClr val="C97F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577840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GAP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190488" y="4279392"/>
            <a:ext cx="128016" cy="128016"/>
          </a:xfrm>
          <a:prstGeom prst="roundRect">
            <a:avLst/>
          </a:prstGeom>
          <a:solidFill>
            <a:srgbClr val="D6EAD3"/>
          </a:solidFill>
          <a:ln w="9525">
            <a:solidFill>
              <a:srgbClr val="8FC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364224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76872" y="4279392"/>
            <a:ext cx="128016" cy="128016"/>
          </a:xfrm>
          <a:prstGeom prst="roundRect">
            <a:avLst/>
          </a:prstGeom>
          <a:solidFill>
            <a:srgbClr val="DDE7F5"/>
          </a:solidFill>
          <a:ln w="9525">
            <a:solidFill>
              <a:srgbClr val="9FB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150608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Dropout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763256" y="4279392"/>
            <a:ext cx="128016" cy="1280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AA1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936992" y="4242816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Softmax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our model vs. baseline</a:t>
            </a:r>
            <a:endParaRPr lang="en-US" sz="28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13687"/>
              </p:ext>
            </p:extLst>
          </p:nvPr>
        </p:nvGraphicFramePr>
        <p:xfrm>
          <a:off x="457202" y="1012587"/>
          <a:ext cx="8229598" cy="9601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85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0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72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15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15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5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15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Parameters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Inference [ms/img]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Recall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Baseline 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9 339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0.539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1.000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1.000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1.000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1.000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Our model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6 594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0.370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0.985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0.971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1.000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dirty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0.985</a:t>
                      </a:r>
                      <a:endParaRPr sz="1100" b="0" i="0" dirty="0">
                        <a:solidFill>
                          <a:srgbClr val="23262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0" name="Picture 19">
            <a:extLst>
              <a:ext uri="{FF2B5EF4-FFF2-40B4-BE49-F238E27FC236}">
                <a16:creationId xmlns:a16="http://schemas.microsoft.com/office/drawing/2014/main" id="{6B5AC953-85AB-9B9C-873A-D75906A77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961" y="2026444"/>
            <a:ext cx="2604935" cy="14570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49077E7-AF37-4772-6AB9-237E6038D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960" y="3620299"/>
            <a:ext cx="2604936" cy="145708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470975A-A15F-74F9-9CC5-84B243DFA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252" y="2021269"/>
            <a:ext cx="1810548" cy="153981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610C914-B471-A74F-6390-F98401C4AC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5018" y="3620299"/>
            <a:ext cx="1791016" cy="15232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12">
            <a:extLst>
              <a:ext uri="{FF2B5EF4-FFF2-40B4-BE49-F238E27FC236}">
                <a16:creationId xmlns:a16="http://schemas.microsoft.com/office/drawing/2014/main" id="{7D1E5FEA-4EE2-C0C5-212D-9D744030332F}"/>
              </a:ext>
            </a:extLst>
          </p:cNvPr>
          <p:cNvSpPr/>
          <p:nvPr/>
        </p:nvSpPr>
        <p:spPr>
          <a:xfrm>
            <a:off x="6135624" y="1097280"/>
            <a:ext cx="2560320" cy="278892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AE59C8-5319-4F55-2353-20EF28C11BDF}"/>
              </a:ext>
            </a:extLst>
          </p:cNvPr>
          <p:cNvSpPr txBox="1"/>
          <p:nvPr/>
        </p:nvSpPr>
        <p:spPr>
          <a:xfrm>
            <a:off x="6309360" y="1202770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Confusion matrix</a:t>
            </a:r>
          </a:p>
        </p:txBody>
      </p:sp>
      <p:sp>
        <p:nvSpPr>
          <p:cNvPr id="25" name="Rounded Rectangle 4">
            <a:extLst>
              <a:ext uri="{FF2B5EF4-FFF2-40B4-BE49-F238E27FC236}">
                <a16:creationId xmlns:a16="http://schemas.microsoft.com/office/drawing/2014/main" id="{560188C4-7C71-A3B5-5C3A-7B52CC5F7FA2}"/>
              </a:ext>
            </a:extLst>
          </p:cNvPr>
          <p:cNvSpPr/>
          <p:nvPr/>
        </p:nvSpPr>
        <p:spPr>
          <a:xfrm>
            <a:off x="457200" y="1097280"/>
            <a:ext cx="2240280" cy="2788920"/>
          </a:xfrm>
          <a:prstGeom prst="roundRect">
            <a:avLst>
              <a:gd name="adj" fmla="val 4086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Model fusion</a:t>
            </a:r>
            <a:endParaRPr lang="en-US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617220" y="1210071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" y="1617437"/>
            <a:ext cx="1920240" cy="682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MobileNetV2 + ResNet50</a:t>
            </a:r>
            <a:endParaRPr lang="en-US" sz="1200" dirty="0">
              <a:solidFill>
                <a:srgbClr val="23262F"/>
              </a:solidFill>
              <a:latin typeface="Calibri"/>
              <a:ea typeface="Calibri"/>
              <a:cs typeface="Calibri"/>
            </a:endParaRP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frozen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1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LR </a:t>
            </a: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1e-4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610" y="2789112"/>
            <a:ext cx="2240280" cy="552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30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0.909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236161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1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test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097280"/>
            <a:ext cx="3154680" cy="3657600"/>
          </a:xfrm>
          <a:prstGeom prst="roundRect">
            <a:avLst>
              <a:gd name="adj" fmla="val 3282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17520" y="1202770"/>
            <a:ext cx="27889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Graphs</a:t>
            </a:r>
            <a:endParaRPr sz="1600" b="1" i="0" dirty="0">
              <a:solidFill>
                <a:srgbClr val="F2A33C"/>
              </a:solidFill>
              <a:latin typeface="Cambria"/>
              <a:ea typeface="Cambria"/>
              <a:cs typeface="Cambria"/>
            </a:endParaRPr>
          </a:p>
        </p:txBody>
      </p:sp>
      <p:pic>
        <p:nvPicPr>
          <p:cNvPr id="12" name="Picture 11" descr="q5a_loss.png"/>
          <p:cNvPicPr>
            <a:picLocks noChangeAspect="1"/>
          </p:cNvPicPr>
          <p:nvPr/>
        </p:nvPicPr>
        <p:blipFill>
          <a:blip r:embed="rId2"/>
          <a:srcRect t="1968"/>
          <a:stretch>
            <a:fillRect/>
          </a:stretch>
        </p:blipFill>
        <p:spPr>
          <a:xfrm>
            <a:off x="3186684" y="1451642"/>
            <a:ext cx="2386584" cy="15937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3ACE663-5B52-3C29-0956-340EBF25D6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 t="10048"/>
          <a:stretch>
            <a:fillRect/>
          </a:stretch>
        </p:blipFill>
        <p:spPr>
          <a:xfrm>
            <a:off x="3186684" y="3104687"/>
            <a:ext cx="2386584" cy="16105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DE68BF7-F3AD-47E3-E51E-65C18A19985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863" t="5483"/>
          <a:stretch>
            <a:fillRect/>
          </a:stretch>
        </p:blipFill>
        <p:spPr>
          <a:xfrm>
            <a:off x="6341364" y="1456292"/>
            <a:ext cx="2226596" cy="22467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CB1500F3-B800-3BA7-43A4-4B2E2CDA7672}"/>
              </a:ext>
            </a:extLst>
          </p:cNvPr>
          <p:cNvSpPr/>
          <p:nvPr/>
        </p:nvSpPr>
        <p:spPr>
          <a:xfrm>
            <a:off x="2834640" y="1097280"/>
            <a:ext cx="3154680" cy="3657600"/>
          </a:xfrm>
          <a:prstGeom prst="roundRect">
            <a:avLst>
              <a:gd name="adj" fmla="val 3282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 Transfer learning</a:t>
            </a:r>
            <a:endParaRPr lang="en-US" sz="2800"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240280" cy="2788920"/>
          </a:xfrm>
          <a:prstGeom prst="roundRect">
            <a:avLst>
              <a:gd name="adj" fmla="val 4086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MobileNetV2, frozen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Only the head is trained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1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LR </a:t>
            </a: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1e-4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2240280" cy="552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30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0.876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41369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1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test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02770"/>
            <a:ext cx="27889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lang="en-US" sz="1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Graphs</a:t>
            </a:r>
            <a:endParaRPr sz="1200" b="1" i="0" dirty="0">
              <a:solidFill>
                <a:srgbClr val="F2A33C"/>
              </a:solidFill>
              <a:latin typeface="Cambria"/>
              <a:ea typeface="Cambria"/>
              <a:cs typeface="Cambria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832" y="1426819"/>
            <a:ext cx="2522035" cy="176289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35624" y="1097280"/>
            <a:ext cx="2560320" cy="278892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0" y="1202770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Confusion matrix</a:t>
            </a:r>
          </a:p>
        </p:txBody>
      </p:sp>
      <p:pic>
        <p:nvPicPr>
          <p:cNvPr id="15" name="Picture 14" descr="q5b_cm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00627"/>
            <a:ext cx="2395727" cy="21328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8213500-AF9A-3B15-B227-E2B1CD555F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735" t="9710"/>
          <a:stretch>
            <a:fillRect/>
          </a:stretch>
        </p:blipFill>
        <p:spPr>
          <a:xfrm>
            <a:off x="3209971" y="3065145"/>
            <a:ext cx="2522034" cy="16993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9">
            <a:extLst>
              <a:ext uri="{FF2B5EF4-FFF2-40B4-BE49-F238E27FC236}">
                <a16:creationId xmlns:a16="http://schemas.microsoft.com/office/drawing/2014/main" id="{35E52C09-F3F5-F8CD-1C03-D7CA6B181E06}"/>
              </a:ext>
            </a:extLst>
          </p:cNvPr>
          <p:cNvSpPr/>
          <p:nvPr/>
        </p:nvSpPr>
        <p:spPr>
          <a:xfrm>
            <a:off x="2834640" y="1097280"/>
            <a:ext cx="3154680" cy="3657600"/>
          </a:xfrm>
          <a:prstGeom prst="roundRect">
            <a:avLst>
              <a:gd name="adj" fmla="val 3282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12">
            <a:extLst>
              <a:ext uri="{FF2B5EF4-FFF2-40B4-BE49-F238E27FC236}">
                <a16:creationId xmlns:a16="http://schemas.microsoft.com/office/drawing/2014/main" id="{0470632C-CECA-F792-E0D6-D8CAE0D64624}"/>
              </a:ext>
            </a:extLst>
          </p:cNvPr>
          <p:cNvSpPr/>
          <p:nvPr/>
        </p:nvSpPr>
        <p:spPr>
          <a:xfrm>
            <a:off x="6135624" y="1097280"/>
            <a:ext cx="2560320" cy="278892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Fine-tuning</a:t>
            </a:r>
            <a:endParaRPr lang="en-US" sz="2800"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240280" cy="2788920"/>
          </a:xfrm>
          <a:prstGeom prst="roundRect">
            <a:avLst>
              <a:gd name="adj" fmla="val 4086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MobileNetV2, top 25 layers unfrozen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Same head as (b)</a:t>
            </a:r>
          </a:p>
          <a:p>
            <a:pPr marL="152400" indent="-152400">
              <a:spcAft>
                <a:spcPts val="480"/>
              </a:spcAft>
              <a:buSzPct val="100000"/>
              <a:buChar char="•"/>
            </a:pPr>
            <a:r>
              <a:rPr sz="1200" b="1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LR </a:t>
            </a:r>
            <a:r>
              <a:rPr sz="1200" b="0" i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1e-5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2240280" cy="552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30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0.897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41369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1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test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02770"/>
            <a:ext cx="27889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lang="en-US" sz="1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Graphs</a:t>
            </a:r>
            <a:endParaRPr sz="1600" b="1" i="0" dirty="0">
              <a:solidFill>
                <a:srgbClr val="F2A33C"/>
              </a:solidFill>
              <a:latin typeface="Cambria"/>
              <a:ea typeface="Cambria"/>
              <a:cs typeface="Cambria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796" y="1448991"/>
            <a:ext cx="2322463" cy="16233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9360" y="1202770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1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Confusion matrix</a:t>
            </a:r>
          </a:p>
        </p:txBody>
      </p:sp>
      <p:pic>
        <p:nvPicPr>
          <p:cNvPr id="15" name="Picture 14" descr="q5c_cm_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8596" y="1600626"/>
            <a:ext cx="2418475" cy="215307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02394D0-02B1-1B84-8AFE-9C6BDB6E82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966" t="10376"/>
          <a:stretch>
            <a:fillRect/>
          </a:stretch>
        </p:blipFill>
        <p:spPr>
          <a:xfrm>
            <a:off x="3186796" y="3105956"/>
            <a:ext cx="2322463" cy="156048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5">
            <a:extLst>
              <a:ext uri="{FF2B5EF4-FFF2-40B4-BE49-F238E27FC236}">
                <a16:creationId xmlns:a16="http://schemas.microsoft.com/office/drawing/2014/main" id="{25528FD4-3691-72E9-1D32-EEAFEBBE7B34}"/>
              </a:ext>
            </a:extLst>
          </p:cNvPr>
          <p:cNvSpPr/>
          <p:nvPr/>
        </p:nvSpPr>
        <p:spPr>
          <a:xfrm>
            <a:off x="2734056" y="2577338"/>
            <a:ext cx="2180844" cy="1769364"/>
          </a:xfrm>
          <a:prstGeom prst="roundRect">
            <a:avLst>
              <a:gd name="adj" fmla="val 4450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(d) Comparison of methods</a:t>
            </a:r>
            <a:endParaRPr lang="en-US" sz="28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595" cy="1188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10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2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9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0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0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0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56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5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Total params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Trainable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Recall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Epochs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Train time</a:t>
                      </a:r>
                    </a:p>
                  </a:txBody>
                  <a:tcPr marL="73152" marR="73152" marT="27432" marB="27432" anchor="ctr">
                    <a:solidFill>
                      <a:srgbClr val="2326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(a) Fusion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26.7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861 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97F17"/>
                          </a:solidFill>
                          <a:latin typeface="Calibri"/>
                          <a:ea typeface="Calibri"/>
                          <a:cs typeface="Calibri"/>
                        </a:rPr>
                        <a:t>0.909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97F17"/>
                          </a:solidFill>
                          <a:latin typeface="Calibri"/>
                          <a:ea typeface="Calibri"/>
                          <a:cs typeface="Calibri"/>
                        </a:rPr>
                        <a:t>0.910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97F17"/>
                          </a:solidFill>
                          <a:latin typeface="Calibri"/>
                          <a:ea typeface="Calibri"/>
                          <a:cs typeface="Calibri"/>
                        </a:rPr>
                        <a:t>0.909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97F17"/>
                          </a:solidFill>
                          <a:latin typeface="Calibri"/>
                          <a:ea typeface="Calibri"/>
                          <a:cs typeface="Calibri"/>
                        </a:rPr>
                        <a:t>0.909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125 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(b) Transfer learning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2.6 M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333 k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0.876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0.875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0.876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0.875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96 s</a:t>
                      </a:r>
                    </a:p>
                  </a:txBody>
                  <a:tcPr marL="73152" marR="73152" marT="27432" marB="27432" anchor="ctr">
                    <a:solidFill>
                      <a:srgbClr val="F1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(c) Fine-tuning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2.6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1.69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0.898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3262F"/>
                          </a:solidFill>
                          <a:latin typeface="Calibri"/>
                          <a:ea typeface="Calibri"/>
                          <a:cs typeface="Calibri"/>
                        </a:rPr>
                        <a:t>98 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560320"/>
            <a:ext cx="2180844" cy="1769364"/>
          </a:xfrm>
          <a:prstGeom prst="roundRect">
            <a:avLst>
              <a:gd name="adj" fmla="val 4450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" y="2894076"/>
            <a:ext cx="2651760" cy="4787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2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" y="3372866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2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best accuracy, but 10× larger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2936494"/>
            <a:ext cx="2651760" cy="4787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26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Cat ↔ dog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9158" y="3381756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2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hardest pair for all methods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5D93942-2B12-DF3E-8838-1BF29AA97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358" y="2560320"/>
            <a:ext cx="3481007" cy="1845785"/>
          </a:xfrm>
          <a:prstGeom prst="roundRect">
            <a:avLst>
              <a:gd name="adj" fmla="val 7007"/>
            </a:avLst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 — compress and reconstruct</a:t>
            </a:r>
            <a:endParaRPr lang="en-US" sz="2800"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566160" cy="342900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3287990" cy="2151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sz="14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Objective</a:t>
            </a:r>
          </a:p>
          <a:p>
            <a:pPr marL="152400" indent="-152400">
              <a:spcAft>
                <a:spcPts val="520"/>
              </a:spcAft>
              <a:buSzPct val="100000"/>
              <a:buChar char="•"/>
            </a:pP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Compress images to 32 values and reconstruct them</a:t>
            </a:r>
          </a:p>
          <a:p>
            <a:pPr marL="152400" indent="-152400">
              <a:spcAft>
                <a:spcPts val="520"/>
              </a:spcAft>
              <a:buSzPct val="100000"/>
              <a:buChar char="•"/>
            </a:pP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Show original, latent, reconstruction and MSE</a:t>
            </a:r>
          </a:p>
          <a:p>
            <a:pPr marL="0" indent="0">
              <a:buNone/>
            </a:pPr>
            <a:r>
              <a:rPr sz="1400" b="1" i="0" dirty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Method</a:t>
            </a:r>
          </a:p>
          <a:p>
            <a:pPr marL="152400" indent="-152400">
              <a:spcAft>
                <a:spcPts val="520"/>
              </a:spcAft>
              <a:buSzPct val="100000"/>
              <a:buChar char="•"/>
            </a:pP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60×175 grayscale input</a:t>
            </a:r>
          </a:p>
          <a:p>
            <a:pPr marL="152400" indent="-152400">
              <a:spcAft>
                <a:spcPts val="520"/>
              </a:spcAft>
              <a:buSzPct val="100000"/>
              <a:buChar char="•"/>
            </a:pP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10500 → 256 → 32 → 256 → 10500</a:t>
            </a:r>
          </a:p>
          <a:p>
            <a:pPr marL="152400" indent="-152400">
              <a:spcAft>
                <a:spcPts val="520"/>
              </a:spcAft>
              <a:buSzPct val="100000"/>
              <a:buChar char="•"/>
            </a:pP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MSE loss, Adam, 50 epochs</a:t>
            </a:r>
          </a:p>
          <a:p>
            <a:pPr marL="152400" indent="-152400">
              <a:spcAft>
                <a:spcPts val="520"/>
              </a:spcAft>
              <a:buSzPct val="100000"/>
              <a:buChar char="•"/>
            </a:pP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80/20 train/</a:t>
            </a:r>
            <a:r>
              <a:rPr sz="1300" b="0" i="0" dirty="0" err="1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val</a:t>
            </a:r>
            <a:r>
              <a:rPr sz="13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, test set for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188720"/>
            <a:ext cx="4526280" cy="342900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q6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984" y="1449324"/>
            <a:ext cx="3732198" cy="2907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Q6 · Train and val loss overlap → no overfitting.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reconstruction per class</a:t>
            </a:r>
            <a:endParaRPr lang="en-US" sz="2800"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8229600" cy="1325880"/>
          </a:xfrm>
          <a:prstGeom prst="roundRect">
            <a:avLst>
              <a:gd name="adj" fmla="val 6905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q6_00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31" y="1152144"/>
            <a:ext cx="7716937" cy="121615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2514600"/>
            <a:ext cx="8229600" cy="1325880"/>
          </a:xfrm>
          <a:prstGeom prst="roundRect">
            <a:avLst>
              <a:gd name="adj" fmla="val 6905"/>
            </a:avLst>
          </a:prstGeom>
          <a:solidFill>
            <a:srgbClr val="FFFFFF"/>
          </a:solidFill>
          <a:ln w="952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q6_10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31" y="2569464"/>
            <a:ext cx="7716937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913632"/>
            <a:ext cx="1371600" cy="33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8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0.00053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28374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mean MSE · </a:t>
            </a:r>
            <a:r>
              <a:rPr lang="en-US"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healthy (</a:t>
            </a:r>
            <a:r>
              <a:rPr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00_15</a:t>
            </a:r>
            <a:r>
              <a:rPr lang="en-US"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)</a:t>
            </a:r>
            <a:endParaRPr sz="1000" b="0" i="0" dirty="0">
              <a:solidFill>
                <a:srgbClr val="7C849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74519" y="3913632"/>
            <a:ext cx="1371600" cy="33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800" b="1" i="0">
                <a:solidFill>
                  <a:srgbClr val="F2A33C"/>
                </a:solidFill>
                <a:latin typeface="Cambria"/>
                <a:ea typeface="Cambria"/>
                <a:cs typeface="Cambria"/>
              </a:rPr>
              <a:t>0.00042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1176" y="4237015"/>
            <a:ext cx="129494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ctr">
              <a:buNone/>
            </a:pPr>
            <a:r>
              <a:rPr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mean MSE · </a:t>
            </a:r>
            <a:r>
              <a:rPr lang="en-US"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faulty (</a:t>
            </a:r>
            <a:r>
              <a:rPr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10_15</a:t>
            </a:r>
            <a:r>
              <a:rPr lang="en-US" sz="1000" b="0" i="0" dirty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)</a:t>
            </a:r>
            <a:endParaRPr sz="1000" b="0" i="0" dirty="0">
              <a:solidFill>
                <a:srgbClr val="7C849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32332" y="4289929"/>
            <a:ext cx="51663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80"/>
              </a:spcAft>
              <a:buSzPct val="100000"/>
            </a:pPr>
            <a:r>
              <a:rPr lang="en-US"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Healthy motor </a:t>
            </a:r>
            <a:r>
              <a:rPr sz="1200" b="0" i="0" dirty="0">
                <a:solidFill>
                  <a:srgbClr val="23262F"/>
                </a:solidFill>
                <a:latin typeface="Calibri"/>
                <a:ea typeface="Calibri"/>
                <a:cs typeface="Calibri"/>
              </a:rPr>
              <a:t>is reconstructed best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7C8494"/>
                </a:solidFill>
                <a:latin typeface="Calibri"/>
                <a:ea typeface="Calibri"/>
                <a:cs typeface="Calibri"/>
              </a:rPr>
              <a:t>Q6 · Latent colour scale is shared within each figure.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 trained on auto-annotated L515 frames: mAP50 = 0.92 (mAP50-95 = 0.31) on unseen test video; depth read at the box centre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9928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54864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0992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recovered in 100 % of the 150 test frames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76856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54864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768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COCO segmentation + ByteTrack: 14 persons tracked, up to 8 at once, region counting works without any training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2"/>
              <p:cNvSpPr txBox="1"/>
              <p:nvPr/>
            </p:nvSpPr>
            <p:spPr>
              <a:xfrm>
                <a:off x="1097280" y="2843784"/>
                <a:ext cx="7498080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300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Motor classifier: 98.5 % accuracy (baseline 100 %) with 30 % fewer parameters and </a:t>
                </a:r>
                <a14:m>
                  <m:oMath xmlns:m="http://schemas.openxmlformats.org/officeDocument/2006/math">
                    <m:r>
                      <a:rPr lang="en-US" sz="130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~</m:t>
                    </m:r>
                  </m:oMath>
                </a14:m>
                <a:r>
                  <a:rPr lang="en-US" sz="1300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30 % faster inference</a:t>
                </a:r>
                <a:endParaRPr lang="en-US" sz="1300" dirty="0"/>
              </a:p>
            </p:txBody>
          </p:sp>
        </mc:Choice>
        <mc:Fallback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2843784"/>
                <a:ext cx="7498080" cy="384048"/>
              </a:xfrm>
              <a:prstGeom prst="rect">
                <a:avLst/>
              </a:prstGeom>
              <a:blipFill>
                <a:blip r:embed="rId3"/>
                <a:stretch>
                  <a:fillRect l="-130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3"/>
          <p:cNvSpPr/>
          <p:nvPr/>
        </p:nvSpPr>
        <p:spPr>
          <a:xfrm>
            <a:off x="548640" y="3410712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5486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92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CIFAR-10: fusion best (90.9 %), fine-tuning 89.7 % at 1/10 the size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92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9776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Autoencoder: 10 500 → 32 values, mean MSE ≈ 0.0005 for both classes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1518</Words>
  <Application>Microsoft Office PowerPoint</Application>
  <PresentationFormat>On-screen Show (16:9)</PresentationFormat>
  <Paragraphs>330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Steenfeldt-Gjersøe</cp:lastModifiedBy>
  <cp:revision>4</cp:revision>
  <dcterms:created xsi:type="dcterms:W3CDTF">2026-09-29T13:05:39Z</dcterms:created>
  <dcterms:modified xsi:type="dcterms:W3CDTF">2026-09-29T19:50:41Z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2026-09-29T13:10:33Z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a9cadeb7-3fb3-452f-a852-6ece1a581bfc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