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62" d="100"/>
          <a:sy n="162" d="100"/>
        </p:scale>
        <p:origin x="144" y="22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110663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6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09728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F2A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MAS512 · Assignment 1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554480"/>
            <a:ext cx="7863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Object detection, tracking,</a:t>
            </a:r>
            <a:endParaRPr lang="en-US" sz="3800" dirty="0"/>
          </a:p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segmentation and classification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20040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9CD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5  ·  University of Agder  ·  Autumn 2026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4123942"/>
            <a:ext cx="4572000" cy="347473"/>
          </a:xfrm>
          <a:prstGeom prst="roundRect">
            <a:avLst>
              <a:gd name="adj" fmla="val 13333"/>
            </a:avLst>
          </a:prstGeom>
          <a:solidFill>
            <a:srgbClr val="EEF0F4"/>
          </a:solidFill>
          <a:ln w="12700">
            <a:solidFill>
              <a:srgbClr val="8A93A6"/>
            </a:solidFill>
            <a:prstDash val="solid"/>
          </a:ln>
        </p:spPr>
        <p:txBody>
          <a:bodyPr/>
          <a:lstStyle/>
          <a:p>
            <a:pPr algn="ctr"/>
            <a:r>
              <a:rPr lang="en-GB" sz="1200" dirty="0"/>
              <a:t>Are Gundersen, Sebastian Steenfeldt-Gjersøe</a:t>
            </a:r>
          </a:p>
        </p:txBody>
      </p:sp>
      <p:sp>
        <p:nvSpPr>
          <p:cNvPr id="7" name="Shape 5"/>
          <p:cNvSpPr/>
          <p:nvPr/>
        </p:nvSpPr>
        <p:spPr>
          <a:xfrm>
            <a:off x="6309360" y="3794760"/>
            <a:ext cx="347472" cy="347472"/>
          </a:xfrm>
          <a:prstGeom prst="ellipse">
            <a:avLst/>
          </a:prstGeom>
          <a:solidFill>
            <a:srgbClr val="F2A33C"/>
          </a:solidFill>
          <a:ln w="12700">
            <a:solidFill>
              <a:srgbClr val="F2A33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 txBox="1"/>
          <p:nvPr/>
        </p:nvSpPr>
        <p:spPr>
          <a:xfrm>
            <a:off x="6309360" y="37947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88" b="1" dirty="0">
                <a:solidFill>
                  <a:srgbClr val="232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988" dirty="0"/>
          </a:p>
        </p:txBody>
      </p:sp>
      <p:sp>
        <p:nvSpPr>
          <p:cNvPr id="9" name="Shape 7"/>
          <p:cNvSpPr/>
          <p:nvPr/>
        </p:nvSpPr>
        <p:spPr>
          <a:xfrm>
            <a:off x="6720840" y="3794760"/>
            <a:ext cx="347472" cy="347472"/>
          </a:xfrm>
          <a:prstGeom prst="ellipse">
            <a:avLst/>
          </a:prstGeom>
          <a:solidFill>
            <a:srgbClr val="2E3240"/>
          </a:solidFill>
          <a:ln w="12700">
            <a:solidFill>
              <a:srgbClr val="2E324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 txBox="1"/>
          <p:nvPr/>
        </p:nvSpPr>
        <p:spPr>
          <a:xfrm>
            <a:off x="6720840" y="37947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88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988" dirty="0"/>
          </a:p>
        </p:txBody>
      </p:sp>
      <p:sp>
        <p:nvSpPr>
          <p:cNvPr id="11" name="Shape 9"/>
          <p:cNvSpPr/>
          <p:nvPr/>
        </p:nvSpPr>
        <p:spPr>
          <a:xfrm>
            <a:off x="7132320" y="3794760"/>
            <a:ext cx="347472" cy="347472"/>
          </a:xfrm>
          <a:prstGeom prst="ellipse">
            <a:avLst/>
          </a:prstGeom>
          <a:solidFill>
            <a:srgbClr val="F2A33C"/>
          </a:solidFill>
          <a:ln w="12700">
            <a:solidFill>
              <a:srgbClr val="F2A33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 txBox="1"/>
          <p:nvPr/>
        </p:nvSpPr>
        <p:spPr>
          <a:xfrm>
            <a:off x="7132320" y="37947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88" b="1" dirty="0">
                <a:solidFill>
                  <a:srgbClr val="232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988" dirty="0"/>
          </a:p>
        </p:txBody>
      </p:sp>
      <p:sp>
        <p:nvSpPr>
          <p:cNvPr id="13" name="Shape 11"/>
          <p:cNvSpPr/>
          <p:nvPr/>
        </p:nvSpPr>
        <p:spPr>
          <a:xfrm>
            <a:off x="7543800" y="3794760"/>
            <a:ext cx="347472" cy="347472"/>
          </a:xfrm>
          <a:prstGeom prst="ellipse">
            <a:avLst/>
          </a:prstGeom>
          <a:solidFill>
            <a:srgbClr val="2E3240"/>
          </a:solidFill>
          <a:ln w="12700">
            <a:solidFill>
              <a:srgbClr val="2E324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 txBox="1"/>
          <p:nvPr/>
        </p:nvSpPr>
        <p:spPr>
          <a:xfrm>
            <a:off x="7543800" y="37947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88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988" dirty="0"/>
          </a:p>
        </p:txBody>
      </p:sp>
      <p:sp>
        <p:nvSpPr>
          <p:cNvPr id="15" name="Shape 13"/>
          <p:cNvSpPr/>
          <p:nvPr/>
        </p:nvSpPr>
        <p:spPr>
          <a:xfrm>
            <a:off x="7955280" y="3794760"/>
            <a:ext cx="347472" cy="347472"/>
          </a:xfrm>
          <a:prstGeom prst="ellipse">
            <a:avLst/>
          </a:prstGeom>
          <a:solidFill>
            <a:srgbClr val="F2A33C"/>
          </a:solidFill>
          <a:ln w="12700">
            <a:solidFill>
              <a:srgbClr val="F2A33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 txBox="1"/>
          <p:nvPr/>
        </p:nvSpPr>
        <p:spPr>
          <a:xfrm>
            <a:off x="7955280" y="37947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88" b="1" dirty="0">
                <a:solidFill>
                  <a:srgbClr val="232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988" dirty="0"/>
          </a:p>
        </p:txBody>
      </p:sp>
      <p:sp>
        <p:nvSpPr>
          <p:cNvPr id="17" name="Shape 15"/>
          <p:cNvSpPr/>
          <p:nvPr/>
        </p:nvSpPr>
        <p:spPr>
          <a:xfrm>
            <a:off x="8366760" y="3794760"/>
            <a:ext cx="347472" cy="347472"/>
          </a:xfrm>
          <a:prstGeom prst="ellipse">
            <a:avLst/>
          </a:prstGeom>
          <a:solidFill>
            <a:srgbClr val="2E3240"/>
          </a:solidFill>
          <a:ln w="12700">
            <a:solidFill>
              <a:srgbClr val="2E324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Text 16"/>
          <p:cNvSpPr txBox="1"/>
          <p:nvPr/>
        </p:nvSpPr>
        <p:spPr>
          <a:xfrm>
            <a:off x="8366760" y="37947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88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988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32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Overview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2651760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9525">
            <a:solidFill>
              <a:srgbClr val="E4E6EB"/>
            </a:solidFill>
            <a:prstDash val="solid"/>
          </a:ln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640080" y="1371600"/>
            <a:ext cx="411480" cy="411480"/>
          </a:xfrm>
          <a:prstGeom prst="ellipse">
            <a:avLst/>
          </a:prstGeom>
          <a:solidFill>
            <a:srgbClr val="F2A33C"/>
          </a:solidFill>
          <a:ln w="12700">
            <a:solidFill>
              <a:srgbClr val="F2A33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 txBox="1"/>
          <p:nvPr/>
        </p:nvSpPr>
        <p:spPr>
          <a:xfrm>
            <a:off x="640080" y="1371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70" b="1" dirty="0">
                <a:solidFill>
                  <a:srgbClr val="232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17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35331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32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Object detection &amp; depth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8745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C84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YOLO on L515 frames of a swinging load; KPIs, boxes, depth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2286000" y="2331720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F2A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p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1840" y="1188720"/>
            <a:ext cx="2651760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9525">
            <a:solidFill>
              <a:srgbClr val="E4E6EB"/>
            </a:solidFill>
            <a:prstDash val="solid"/>
          </a:ln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>
            <a:off x="3474720" y="1371600"/>
            <a:ext cx="411480" cy="411480"/>
          </a:xfrm>
          <a:prstGeom prst="ellipse">
            <a:avLst/>
          </a:prstGeom>
          <a:solidFill>
            <a:srgbClr val="F2A33C"/>
          </a:solidFill>
          <a:ln w="12700">
            <a:solidFill>
              <a:srgbClr val="F2A33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 txBox="1"/>
          <p:nvPr/>
        </p:nvSpPr>
        <p:spPr>
          <a:xfrm>
            <a:off x="3474720" y="1371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70" b="1" dirty="0">
                <a:solidFill>
                  <a:srgbClr val="232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170" dirty="0"/>
          </a:p>
        </p:txBody>
      </p:sp>
      <p:sp>
        <p:nvSpPr>
          <p:cNvPr id="12" name="Text 10"/>
          <p:cNvSpPr txBox="1"/>
          <p:nvPr/>
        </p:nvSpPr>
        <p:spPr>
          <a:xfrm>
            <a:off x="4023360" y="135331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32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Object tracking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474720" y="18745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C84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Trajectory of the load in test_swingingload.avi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5120640" y="2331720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F2A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p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26480" y="1188720"/>
            <a:ext cx="2651760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9525">
            <a:solidFill>
              <a:srgbClr val="E4E6EB"/>
            </a:solidFill>
            <a:prstDash val="solid"/>
          </a:ln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6" name="Shape 14"/>
          <p:cNvSpPr/>
          <p:nvPr/>
        </p:nvSpPr>
        <p:spPr>
          <a:xfrm>
            <a:off x="6309360" y="1371600"/>
            <a:ext cx="411480" cy="411480"/>
          </a:xfrm>
          <a:prstGeom prst="ellipse">
            <a:avLst/>
          </a:prstGeom>
          <a:solidFill>
            <a:srgbClr val="F2A33C"/>
          </a:solidFill>
          <a:ln w="12700">
            <a:solidFill>
              <a:srgbClr val="F2A33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 txBox="1"/>
          <p:nvPr/>
        </p:nvSpPr>
        <p:spPr>
          <a:xfrm>
            <a:off x="6309360" y="1371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70" b="1" dirty="0">
                <a:solidFill>
                  <a:srgbClr val="232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170" dirty="0"/>
          </a:p>
        </p:txBody>
      </p:sp>
      <p:sp>
        <p:nvSpPr>
          <p:cNvPr id="18" name="Text 16"/>
          <p:cNvSpPr txBox="1"/>
          <p:nvPr/>
        </p:nvSpPr>
        <p:spPr>
          <a:xfrm>
            <a:off x="6858000" y="135331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32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Multi-object segmentation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309360" y="18745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C84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Segment, count, track persons; count inside a region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7955280" y="2331720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F2A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p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57200" y="2926080"/>
            <a:ext cx="2651760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9525">
            <a:solidFill>
              <a:srgbClr val="E4E6EB"/>
            </a:solidFill>
            <a:prstDash val="solid"/>
          </a:ln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22" name="Shape 20"/>
          <p:cNvSpPr/>
          <p:nvPr/>
        </p:nvSpPr>
        <p:spPr>
          <a:xfrm>
            <a:off x="640080" y="3108960"/>
            <a:ext cx="411480" cy="411480"/>
          </a:xfrm>
          <a:prstGeom prst="ellipse">
            <a:avLst/>
          </a:prstGeom>
          <a:solidFill>
            <a:srgbClr val="F2A33C"/>
          </a:solidFill>
          <a:ln w="12700">
            <a:solidFill>
              <a:srgbClr val="F2A33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Text 21"/>
          <p:cNvSpPr txBox="1"/>
          <p:nvPr/>
        </p:nvSpPr>
        <p:spPr>
          <a:xfrm>
            <a:off x="640080" y="31089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70" b="1" dirty="0">
                <a:solidFill>
                  <a:srgbClr val="232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170" dirty="0"/>
          </a:p>
        </p:txBody>
      </p:sp>
      <p:sp>
        <p:nvSpPr>
          <p:cNvPr id="24" name="Text 22"/>
          <p:cNvSpPr txBox="1"/>
          <p:nvPr/>
        </p:nvSpPr>
        <p:spPr>
          <a:xfrm>
            <a:off x="1188720" y="309067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32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Classification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640080" y="361188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C84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Motor state-of-health model vs. class baseline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2286000" y="4069080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F2A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p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291840" y="2926080"/>
            <a:ext cx="2651760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9525">
            <a:solidFill>
              <a:srgbClr val="E4E6EB"/>
            </a:solidFill>
            <a:prstDash val="solid"/>
          </a:ln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28" name="Shape 26"/>
          <p:cNvSpPr/>
          <p:nvPr/>
        </p:nvSpPr>
        <p:spPr>
          <a:xfrm>
            <a:off x="3474720" y="3108960"/>
            <a:ext cx="411480" cy="411480"/>
          </a:xfrm>
          <a:prstGeom prst="ellipse">
            <a:avLst/>
          </a:prstGeom>
          <a:solidFill>
            <a:srgbClr val="F2A33C"/>
          </a:solidFill>
          <a:ln w="12700">
            <a:solidFill>
              <a:srgbClr val="F2A33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Text 27"/>
          <p:cNvSpPr txBox="1"/>
          <p:nvPr/>
        </p:nvSpPr>
        <p:spPr>
          <a:xfrm>
            <a:off x="3474720" y="31089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70" b="1" dirty="0">
                <a:solidFill>
                  <a:srgbClr val="232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170" dirty="0"/>
          </a:p>
        </p:txBody>
      </p:sp>
      <p:sp>
        <p:nvSpPr>
          <p:cNvPr id="30" name="Text 28"/>
          <p:cNvSpPr txBox="1"/>
          <p:nvPr/>
        </p:nvSpPr>
        <p:spPr>
          <a:xfrm>
            <a:off x="4023360" y="309067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32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CIFAR-10 classification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3474720" y="361188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C84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fusion, transfer learning, fine-tuning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5120640" y="4069080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F2A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p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6126480" y="2926080"/>
            <a:ext cx="2651760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9525">
            <a:solidFill>
              <a:srgbClr val="E4E6EB"/>
            </a:solidFill>
            <a:prstDash val="solid"/>
          </a:ln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34" name="Shape 32"/>
          <p:cNvSpPr/>
          <p:nvPr/>
        </p:nvSpPr>
        <p:spPr>
          <a:xfrm>
            <a:off x="6309360" y="3108960"/>
            <a:ext cx="411480" cy="411480"/>
          </a:xfrm>
          <a:prstGeom prst="ellipse">
            <a:avLst/>
          </a:prstGeom>
          <a:solidFill>
            <a:srgbClr val="F2A33C"/>
          </a:solidFill>
          <a:ln w="12700">
            <a:solidFill>
              <a:srgbClr val="F2A33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5" name="Text 33"/>
          <p:cNvSpPr txBox="1"/>
          <p:nvPr/>
        </p:nvSpPr>
        <p:spPr>
          <a:xfrm>
            <a:off x="6309360" y="31089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70" b="1" dirty="0">
                <a:solidFill>
                  <a:srgbClr val="232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170" dirty="0"/>
          </a:p>
        </p:txBody>
      </p:sp>
      <p:sp>
        <p:nvSpPr>
          <p:cNvPr id="36" name="Text 34"/>
          <p:cNvSpPr txBox="1"/>
          <p:nvPr/>
        </p:nvSpPr>
        <p:spPr>
          <a:xfrm>
            <a:off x="6858000" y="309067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32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Autoencoder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6309360" y="361188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C84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Latent compression &amp; reconstruction of fault images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7955280" y="4069080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F2A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548640" cy="548640"/>
          </a:xfrm>
          <a:prstGeom prst="ellipse">
            <a:avLst/>
          </a:prstGeom>
          <a:solidFill>
            <a:srgbClr val="F2A33C"/>
          </a:solidFill>
          <a:ln w="12700">
            <a:solidFill>
              <a:srgbClr val="F2A33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 txBox="1"/>
          <p:nvPr/>
        </p:nvSpPr>
        <p:spPr>
          <a:xfrm>
            <a:off x="457200" y="3657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60" b="1" dirty="0">
                <a:solidFill>
                  <a:srgbClr val="232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6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320040"/>
            <a:ext cx="7543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32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Object detection and depth estimation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188719"/>
            <a:ext cx="3931920" cy="1871565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E4E6EB"/>
            </a:solidFill>
            <a:prstDash val="solid"/>
          </a:ln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 txBox="1"/>
          <p:nvPr/>
        </p:nvSpPr>
        <p:spPr>
          <a:xfrm>
            <a:off x="685800" y="1353312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2A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Objective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755648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 a swinging load in RGB frames from the Intel RealSense L515</a:t>
            </a:r>
            <a:endParaRPr lang="en-US" sz="12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and validate a YOLO model (YOLO_swinging_load.pt) on a 30 s recording</a:t>
            </a:r>
            <a:endParaRPr lang="en-US" sz="12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 on an independent 5 s test recording and read out depth at the load centre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0" y="1188720"/>
            <a:ext cx="4114800" cy="1871564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E4E6EB"/>
            </a:solidFill>
            <a:prstDash val="solid"/>
          </a:ln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 txBox="1"/>
          <p:nvPr/>
        </p:nvSpPr>
        <p:spPr>
          <a:xfrm>
            <a:off x="4800600" y="135331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2A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4800600" y="1755648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Train/val: rgb_train_val_swingingload.avi → PNG frames</a:t>
            </a:r>
            <a:endParaRPr lang="en-US" sz="12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Test: test_swingingload.avi → RGB frames + raw depth (.npy)</a:t>
            </a:r>
            <a:endParaRPr lang="en-US" sz="12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class: Payload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3151725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2A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Pipeline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57200" y="3563205"/>
            <a:ext cx="1234440" cy="731520"/>
          </a:xfrm>
          <a:prstGeom prst="roundRect">
            <a:avLst>
              <a:gd name="adj" fmla="val 7500"/>
            </a:avLst>
          </a:prstGeom>
          <a:solidFill>
            <a:srgbClr val="2E3240"/>
          </a:solidFill>
          <a:ln w="12700">
            <a:solidFill>
              <a:srgbClr val="2E324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 txBox="1"/>
          <p:nvPr/>
        </p:nvSpPr>
        <p:spPr>
          <a:xfrm>
            <a:off x="457200" y="3563205"/>
            <a:ext cx="123444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Acquire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L515 video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1673352" y="3563205"/>
            <a:ext cx="2011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7C8494"/>
                </a:solidFill>
              </a:rPr>
              <a:t>›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1856232" y="3563205"/>
            <a:ext cx="1234440" cy="731520"/>
          </a:xfrm>
          <a:prstGeom prst="roundRect">
            <a:avLst>
              <a:gd name="adj" fmla="val 7500"/>
            </a:avLst>
          </a:prstGeom>
          <a:solidFill>
            <a:srgbClr val="2E3240"/>
          </a:solidFill>
          <a:ln w="12700">
            <a:solidFill>
              <a:srgbClr val="2E324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 txBox="1"/>
          <p:nvPr/>
        </p:nvSpPr>
        <p:spPr>
          <a:xfrm>
            <a:off x="1856232" y="3563205"/>
            <a:ext cx="123444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frames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3072384" y="3563205"/>
            <a:ext cx="2011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7C8494"/>
                </a:solidFill>
              </a:rPr>
              <a:t>›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3255264" y="3563205"/>
            <a:ext cx="1234440" cy="731520"/>
          </a:xfrm>
          <a:prstGeom prst="roundRect">
            <a:avLst>
              <a:gd name="adj" fmla="val 7500"/>
            </a:avLst>
          </a:prstGeom>
          <a:solidFill>
            <a:srgbClr val="2E3240"/>
          </a:solidFill>
          <a:ln w="12700">
            <a:solidFill>
              <a:srgbClr val="2E324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 txBox="1"/>
          <p:nvPr/>
        </p:nvSpPr>
        <p:spPr>
          <a:xfrm>
            <a:off x="3255264" y="3563205"/>
            <a:ext cx="123444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Auto-annotate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(background subtraction)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4471416" y="3563205"/>
            <a:ext cx="2011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7C8494"/>
                </a:solidFill>
              </a:rPr>
              <a:t>›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4654296" y="3563205"/>
            <a:ext cx="1234440" cy="731520"/>
          </a:xfrm>
          <a:prstGeom prst="roundRect">
            <a:avLst>
              <a:gd name="adj" fmla="val 7500"/>
            </a:avLst>
          </a:prstGeom>
          <a:solidFill>
            <a:srgbClr val="2E3240"/>
          </a:solidFill>
          <a:ln w="12700">
            <a:solidFill>
              <a:srgbClr val="2E324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Text 20"/>
          <p:cNvSpPr txBox="1"/>
          <p:nvPr/>
        </p:nvSpPr>
        <p:spPr>
          <a:xfrm>
            <a:off x="4654296" y="3563205"/>
            <a:ext cx="123444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 / 20 train / val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5870448" y="3563205"/>
            <a:ext cx="2011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7C8494"/>
                </a:solidFill>
              </a:rPr>
              <a:t>›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6053328" y="3563205"/>
            <a:ext cx="1234440" cy="731520"/>
          </a:xfrm>
          <a:prstGeom prst="roundRect">
            <a:avLst>
              <a:gd name="adj" fmla="val 7500"/>
            </a:avLst>
          </a:prstGeom>
          <a:solidFill>
            <a:srgbClr val="2E3240"/>
          </a:solidFill>
          <a:ln w="12700">
            <a:solidFill>
              <a:srgbClr val="2E324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Text 23"/>
          <p:cNvSpPr txBox="1"/>
          <p:nvPr/>
        </p:nvSpPr>
        <p:spPr>
          <a:xfrm>
            <a:off x="6053328" y="3563205"/>
            <a:ext cx="123444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YOLO11n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7269480" y="3563205"/>
            <a:ext cx="2011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7C8494"/>
                </a:solidFill>
              </a:rPr>
              <a:t>›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7452360" y="3563205"/>
            <a:ext cx="1234440" cy="731520"/>
          </a:xfrm>
          <a:prstGeom prst="roundRect">
            <a:avLst>
              <a:gd name="adj" fmla="val 7500"/>
            </a:avLst>
          </a:prstGeom>
          <a:solidFill>
            <a:srgbClr val="F2A33C"/>
          </a:solidFill>
          <a:ln w="12700">
            <a:solidFill>
              <a:srgbClr val="F2A33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Text 26"/>
          <p:cNvSpPr txBox="1"/>
          <p:nvPr/>
        </p:nvSpPr>
        <p:spPr>
          <a:xfrm>
            <a:off x="7452360" y="3563205"/>
            <a:ext cx="123444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&amp;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depth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C84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· Script: Q1_ObjectDetection.py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548640" cy="548640"/>
          </a:xfrm>
          <a:prstGeom prst="ellipse">
            <a:avLst/>
          </a:prstGeom>
          <a:solidFill>
            <a:srgbClr val="F2A33C"/>
          </a:solidFill>
          <a:ln w="12700">
            <a:solidFill>
              <a:srgbClr val="F2A33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 txBox="1"/>
          <p:nvPr/>
        </p:nvSpPr>
        <p:spPr>
          <a:xfrm>
            <a:off x="457200" y="3657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60" b="1" dirty="0">
                <a:solidFill>
                  <a:srgbClr val="232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6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320040"/>
            <a:ext cx="7543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32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Method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2743200" cy="338328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9525">
            <a:solidFill>
              <a:srgbClr val="E4E6EB"/>
            </a:solidFill>
            <a:prstDash val="solid"/>
          </a:ln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 txBox="1"/>
          <p:nvPr/>
        </p:nvSpPr>
        <p:spPr>
          <a:xfrm>
            <a:off x="685800" y="135331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2A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Automatic annotation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755648"/>
            <a:ext cx="22860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B = per-pixel median over all grayscale frames</a:t>
            </a:r>
            <a:endParaRPr lang="en-US" sz="12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Difference |I − B| smoothed with Gaussian (σ = 1.5)</a:t>
            </a:r>
            <a:endParaRPr lang="en-US" sz="12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Pixels with diff &gt; 55 marked as moving</a:t>
            </a:r>
            <a:endParaRPr lang="en-US" sz="12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Outliers (rope, shadows) removed: keep pixels within 70 px of the mean</a:t>
            </a:r>
            <a:endParaRPr lang="en-US" sz="12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Bounding box = extent of remaining pixels → YOLO label (class 0, normalised cx, cy, w, h)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383280" y="1188720"/>
            <a:ext cx="2743200" cy="338328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9525">
            <a:solidFill>
              <a:srgbClr val="E4E6EB"/>
            </a:solidFill>
            <a:prstDash val="solid"/>
          </a:ln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 txBox="1"/>
          <p:nvPr/>
        </p:nvSpPr>
        <p:spPr>
          <a:xfrm>
            <a:off x="3611880" y="135331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2A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Dataset &amp; training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3611880" y="1755648"/>
            <a:ext cx="22860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Labelled train frames shuffled, 20 % held out for validation (seed 0)</a:t>
            </a:r>
            <a:endParaRPr lang="en-US" sz="12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data.yaml with train / val / test splits, 1 class</a:t>
            </a:r>
            <a:endParaRPr lang="en-US" sz="12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model: yolo11n.pt (pretrained on COCO)</a:t>
            </a:r>
            <a:endParaRPr lang="en-US" sz="12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imgsz 640, batch 32, up to 100 epochs, early stopping patience 10</a:t>
            </a:r>
            <a:endParaRPr lang="en-US" sz="12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weights saved as YOLO_swinging_load.pt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309360" y="1188720"/>
            <a:ext cx="2377440" cy="33832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4E6EB"/>
            </a:solidFill>
            <a:prstDash val="solid"/>
          </a:ln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 txBox="1"/>
          <p:nvPr/>
        </p:nvSpPr>
        <p:spPr>
          <a:xfrm>
            <a:off x="6537960" y="135331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2A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Evaluation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6537960" y="1755648"/>
            <a:ext cx="19202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model.val() on the test split → precision, recall, mAP50, mAP50-95</a:t>
            </a:r>
            <a:endParaRPr lang="en-US" sz="12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Prediction: most confident box per frame, conf ≥ 0.5</a:t>
            </a:r>
            <a:endParaRPr lang="en-US" sz="12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Depth: median of a 5×5 window around the box centre in the raw depth frame, × 0.00025 m/unit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C84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· Why automatic annotation: one moving object on a static background makes background subtraction reliable and saves manual labelling of hundreds of frames.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548640" cy="548640"/>
          </a:xfrm>
          <a:prstGeom prst="ellipse">
            <a:avLst/>
          </a:prstGeom>
          <a:solidFill>
            <a:srgbClr val="F2A33C"/>
          </a:solidFill>
          <a:ln w="12700">
            <a:solidFill>
              <a:srgbClr val="F2A33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 txBox="1"/>
          <p:nvPr/>
        </p:nvSpPr>
        <p:spPr>
          <a:xfrm>
            <a:off x="457200" y="3657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60" b="1" dirty="0">
                <a:solidFill>
                  <a:srgbClr val="232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6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320040"/>
            <a:ext cx="7543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32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Results (a) — performance on the test set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28016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F2A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0.898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96596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7C84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468880" y="128016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F2A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0.887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2468880" y="196596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7C84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4480560" y="128016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F2A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0.920</a:t>
            </a: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4480560" y="196596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7C84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mAP50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6492240" y="128016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F2A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0.312</a:t>
            </a:r>
            <a:endParaRPr lang="en-US" sz="3400" dirty="0"/>
          </a:p>
        </p:txBody>
      </p:sp>
      <p:sp>
        <p:nvSpPr>
          <p:cNvPr id="12" name="Text 10"/>
          <p:cNvSpPr txBox="1"/>
          <p:nvPr/>
        </p:nvSpPr>
        <p:spPr>
          <a:xfrm>
            <a:off x="6492240" y="196596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7C84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mAP50-95</a:t>
            </a:r>
            <a:endParaRPr lang="en-US" sz="1100" dirty="0"/>
          </a:p>
        </p:txBody>
      </p:sp>
      <p:pic>
        <p:nvPicPr>
          <p:cNvPr id="13" name="Image 0" descr="/home/claude/deck/pr_f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57200" y="2468880"/>
            <a:ext cx="4023360" cy="2194560"/>
          </a:xfrm>
          <a:prstGeom prst="rect">
            <a:avLst/>
          </a:prstGeom>
        </p:spPr>
      </p:pic>
      <p:pic>
        <p:nvPicPr>
          <p:cNvPr id="14" name="Image 1" descr="/home/claude/deck/cm_f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663440" y="2468880"/>
            <a:ext cx="4023360" cy="2194560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C84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· P and R reported at the F1-optimal confidence (0.52). Confusion matrix (conf 0.25): 147 detected, 3 missed, 6 false positives of 150 test frames.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548640" cy="548640"/>
          </a:xfrm>
          <a:prstGeom prst="ellipse">
            <a:avLst/>
          </a:prstGeom>
          <a:solidFill>
            <a:srgbClr val="F2A33C"/>
          </a:solidFill>
          <a:ln w="12700">
            <a:solidFill>
              <a:srgbClr val="F2A33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 txBox="1"/>
          <p:nvPr/>
        </p:nvSpPr>
        <p:spPr>
          <a:xfrm>
            <a:off x="457200" y="3657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60" b="1" dirty="0">
                <a:solidFill>
                  <a:srgbClr val="232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6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320040"/>
            <a:ext cx="7543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32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Results (b) &amp; (c) — boxes, centres and depth</a:t>
            </a:r>
            <a:endParaRPr lang="en-US" sz="2800" dirty="0"/>
          </a:p>
        </p:txBody>
      </p:sp>
      <p:pic>
        <p:nvPicPr>
          <p:cNvPr id="5" name="Image 0" descr="/home/claude/deck/q1b_f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57200" y="1143000"/>
            <a:ext cx="8229600" cy="1600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2926080"/>
            <a:ext cx="3931920" cy="185166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4E6EB"/>
            </a:solidFill>
            <a:prstDash val="solid"/>
          </a:ln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7" name="Text 4"/>
          <p:cNvSpPr txBox="1"/>
          <p:nvPr/>
        </p:nvSpPr>
        <p:spPr>
          <a:xfrm>
            <a:off x="685800" y="3090672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2A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(c) Centre &amp; depth for all test frames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3493008"/>
            <a:ext cx="3474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detected in 147 of 150 frames (missed frames 101, 106, 107)</a:t>
            </a:r>
            <a:endParaRPr lang="en-US" sz="12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 depth in 145 frames (0 = no L515 measurement)</a:t>
            </a:r>
            <a:endParaRPr lang="en-US" sz="12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Depth 2.73 – 3.86 m (median 3.16 m); the swing period is visible in both centre_x and depth</a:t>
            </a:r>
            <a:endParaRPr lang="en-US" sz="1200" dirty="0"/>
          </a:p>
        </p:txBody>
      </p:sp>
      <p:pic>
        <p:nvPicPr>
          <p:cNvPr id="9" name="Image 1" descr="/home/claude/deck/q1c_f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572000" y="2880360"/>
            <a:ext cx="4114800" cy="189738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C84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· Depth read from depth_raw/*.npy (not the depth video) to avoid colour-map quantisation. Full table: runs/q1c_center_depth.csv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548640" cy="548640"/>
          </a:xfrm>
          <a:prstGeom prst="ellipse">
            <a:avLst/>
          </a:prstGeom>
          <a:solidFill>
            <a:srgbClr val="F2A33C"/>
          </a:solidFill>
          <a:ln w="12700">
            <a:solidFill>
              <a:srgbClr val="F2A33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 txBox="1"/>
          <p:nvPr/>
        </p:nvSpPr>
        <p:spPr>
          <a:xfrm>
            <a:off x="457200" y="3657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60" b="1" dirty="0">
                <a:solidFill>
                  <a:srgbClr val="232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6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320040"/>
            <a:ext cx="7543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32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Object tracking — load trajectory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2194560" cy="34290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9525">
            <a:solidFill>
              <a:srgbClr val="E4E6EB"/>
            </a:solidFill>
            <a:prstDash val="solid"/>
          </a:ln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 txBox="1"/>
          <p:nvPr/>
        </p:nvSpPr>
        <p:spPr>
          <a:xfrm>
            <a:off x="685800" y="1353312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2A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Objective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755648"/>
            <a:ext cx="173736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the load through every frame of test_swingingload.avi</a:t>
            </a:r>
            <a:endParaRPr lang="en-US" sz="12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Display the trajectory in the image plane, as in the reference figure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88920" y="1188720"/>
            <a:ext cx="2514600" cy="342900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 w="9525">
            <a:solidFill>
              <a:srgbClr val="E4E6EB"/>
            </a:solidFill>
            <a:prstDash val="solid"/>
          </a:ln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 txBox="1"/>
          <p:nvPr/>
        </p:nvSpPr>
        <p:spPr>
          <a:xfrm>
            <a:off x="3017520" y="1353312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2A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Method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3017520" y="1755648"/>
            <a:ext cx="205740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YOLO_swinging_load.pt frame by frame (conf ≥ 0.5)</a:t>
            </a:r>
            <a:endParaRPr lang="en-US" sz="12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load → keep the most confident box per frame</a:t>
            </a:r>
            <a:endParaRPr lang="en-US" sz="12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frame, time, centre (cx, cy), box size and confidence to trajectory.csv</a:t>
            </a:r>
            <a:endParaRPr lang="en-US" sz="12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Plot cx vs. cy coloured by frame index (viridis) with a thin connecting line; y-axis inverted to match image coordinates</a:t>
            </a:r>
            <a:endParaRPr lang="en-US" sz="1200" dirty="0"/>
          </a:p>
        </p:txBody>
      </p:sp>
      <p:pic>
        <p:nvPicPr>
          <p:cNvPr id="11" name="Image 0" descr="/home/claude/deck/traj_f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440680" y="1188720"/>
            <a:ext cx="3246120" cy="3429000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C84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 · Result: load detected in 150 of 150 frames (100 %) over 5.0 s; the trajectory traces the pendulum arc, with both swing directions overlapping. Script: Q2_ObjectTracking.py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548640" cy="548640"/>
          </a:xfrm>
          <a:prstGeom prst="ellipse">
            <a:avLst/>
          </a:prstGeom>
          <a:solidFill>
            <a:srgbClr val="F2A33C"/>
          </a:solidFill>
          <a:ln w="12700">
            <a:solidFill>
              <a:srgbClr val="F2A33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 txBox="1"/>
          <p:nvPr/>
        </p:nvSpPr>
        <p:spPr>
          <a:xfrm>
            <a:off x="457200" y="3657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60" b="1" dirty="0">
                <a:solidFill>
                  <a:srgbClr val="232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6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320040"/>
            <a:ext cx="7543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32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Segmentation, tracking and counting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402336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E4E6EB"/>
            </a:solidFill>
            <a:prstDash val="solid"/>
          </a:ln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 txBox="1"/>
          <p:nvPr/>
        </p:nvSpPr>
        <p:spPr>
          <a:xfrm>
            <a:off x="685800" y="1353312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2A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Objective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755648"/>
            <a:ext cx="3566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/ class chosen: COCO / person</a:t>
            </a:r>
            <a:endParaRPr lang="en-US" sz="12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with several people in the scene (pedestrians.mp4)</a:t>
            </a:r>
            <a:endParaRPr lang="en-US" sz="12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instance segmentation, (b) counting, (c) per-instance tracking, (d) counting inside a drawn region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663440" y="1188720"/>
            <a:ext cx="402336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E4E6EB"/>
            </a:solidFill>
            <a:prstDash val="solid"/>
          </a:ln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 txBox="1"/>
          <p:nvPr/>
        </p:nvSpPr>
        <p:spPr>
          <a:xfrm>
            <a:off x="4892040" y="1353312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2A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 &amp; tracker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4892040" y="1755648"/>
            <a:ext cx="3566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yolo11n-seg.pt — pretrained on COCO-seg, no training needed</a:t>
            </a:r>
            <a:endParaRPr lang="en-US" sz="12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ByteTrack (persist=True) for stable IDs across frames</a:t>
            </a:r>
            <a:endParaRPr lang="en-US" sz="12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class 0 (person), conf ≥ 0.4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31089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2A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 frame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57200" y="3520440"/>
            <a:ext cx="1514246" cy="777240"/>
          </a:xfrm>
          <a:prstGeom prst="roundRect">
            <a:avLst>
              <a:gd name="adj" fmla="val 7059"/>
            </a:avLst>
          </a:prstGeom>
          <a:solidFill>
            <a:srgbClr val="2E3240"/>
          </a:solidFill>
          <a:ln w="12700">
            <a:solidFill>
              <a:srgbClr val="2E324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 txBox="1"/>
          <p:nvPr/>
        </p:nvSpPr>
        <p:spPr>
          <a:xfrm>
            <a:off x="457200" y="3520440"/>
            <a:ext cx="1514246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model.track()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masks + boxes + IDs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1953158" y="3520440"/>
            <a:ext cx="2011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7C8494"/>
                </a:solidFill>
              </a:rPr>
              <a:t>›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2136038" y="3520440"/>
            <a:ext cx="1514246" cy="777240"/>
          </a:xfrm>
          <a:prstGeom prst="roundRect">
            <a:avLst>
              <a:gd name="adj" fmla="val 7059"/>
            </a:avLst>
          </a:prstGeom>
          <a:solidFill>
            <a:srgbClr val="2E3240"/>
          </a:solidFill>
          <a:ln w="12700">
            <a:solidFill>
              <a:srgbClr val="2E324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 txBox="1"/>
          <p:nvPr/>
        </p:nvSpPr>
        <p:spPr>
          <a:xfrm>
            <a:off x="2136038" y="3520440"/>
            <a:ext cx="1514246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(b) count boxes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collect unique IDs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3631997" y="3520440"/>
            <a:ext cx="2011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7C8494"/>
                </a:solidFill>
              </a:rPr>
              <a:t>›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3814877" y="3520440"/>
            <a:ext cx="1514246" cy="777240"/>
          </a:xfrm>
          <a:prstGeom prst="roundRect">
            <a:avLst>
              <a:gd name="adj" fmla="val 7059"/>
            </a:avLst>
          </a:prstGeom>
          <a:solidFill>
            <a:srgbClr val="2E3240"/>
          </a:solidFill>
          <a:ln w="12700">
            <a:solidFill>
              <a:srgbClr val="2E324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 txBox="1"/>
          <p:nvPr/>
        </p:nvSpPr>
        <p:spPr>
          <a:xfrm>
            <a:off x="3814877" y="3520440"/>
            <a:ext cx="1514246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box centre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(cx, cy)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5310835" y="3520440"/>
            <a:ext cx="2011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7C8494"/>
                </a:solidFill>
              </a:rPr>
              <a:t>›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93715" y="3520440"/>
            <a:ext cx="1514246" cy="777240"/>
          </a:xfrm>
          <a:prstGeom prst="roundRect">
            <a:avLst>
              <a:gd name="adj" fmla="val 7059"/>
            </a:avLst>
          </a:prstGeom>
          <a:solidFill>
            <a:srgbClr val="2E3240"/>
          </a:solidFill>
          <a:ln w="12700">
            <a:solidFill>
              <a:srgbClr val="2E324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Text 20"/>
          <p:cNvSpPr txBox="1"/>
          <p:nvPr/>
        </p:nvSpPr>
        <p:spPr>
          <a:xfrm>
            <a:off x="5493715" y="3520440"/>
            <a:ext cx="1514246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(d) pointPolygonTest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inside region?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6989674" y="3520440"/>
            <a:ext cx="2011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7C8494"/>
                </a:solidFill>
              </a:rPr>
              <a:t>›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7172554" y="3520440"/>
            <a:ext cx="1514246" cy="777240"/>
          </a:xfrm>
          <a:prstGeom prst="roundRect">
            <a:avLst>
              <a:gd name="adj" fmla="val 7059"/>
            </a:avLst>
          </a:prstGeom>
          <a:solidFill>
            <a:srgbClr val="F2A33C"/>
          </a:solidFill>
          <a:ln w="12700">
            <a:solidFill>
              <a:srgbClr val="F2A33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Text 23"/>
          <p:cNvSpPr txBox="1"/>
          <p:nvPr/>
        </p:nvSpPr>
        <p:spPr>
          <a:xfrm>
            <a:off x="7172554" y="3520440"/>
            <a:ext cx="1514246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region,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counters, video out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C84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 · Region = upper half of the frame, defined as a polygon so it scales with the video resolution. Script: Q3_MultiObjectSegmentation.py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548640" cy="548640"/>
          </a:xfrm>
          <a:prstGeom prst="ellipse">
            <a:avLst/>
          </a:prstGeom>
          <a:solidFill>
            <a:srgbClr val="F2A33C"/>
          </a:solidFill>
          <a:ln w="12700">
            <a:solidFill>
              <a:srgbClr val="F2A33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 txBox="1"/>
          <p:nvPr/>
        </p:nvSpPr>
        <p:spPr>
          <a:xfrm>
            <a:off x="457200" y="3657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60" b="1" dirty="0">
                <a:solidFill>
                  <a:srgbClr val="232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6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320040"/>
            <a:ext cx="7543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32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Results</a:t>
            </a:r>
            <a:endParaRPr lang="en-US" sz="2800" dirty="0"/>
          </a:p>
        </p:txBody>
      </p:sp>
      <p:pic>
        <p:nvPicPr>
          <p:cNvPr id="5" name="Image 0" descr="/home/claude/deck/q3a_f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57200" y="1188720"/>
            <a:ext cx="1874520" cy="3246120"/>
          </a:xfrm>
          <a:prstGeom prst="rect">
            <a:avLst/>
          </a:prstGeom>
        </p:spPr>
      </p:pic>
      <p:pic>
        <p:nvPicPr>
          <p:cNvPr id="6" name="Image 1" descr="/home/claude/deck/q3b_f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2468880" y="1188720"/>
            <a:ext cx="1874520" cy="32461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57200" y="4498848"/>
            <a:ext cx="4389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7C84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Frames 56 and 106 of q3_output.mp4 — masks and IDs (blue), region (magenta), centre dot green = inside</a:t>
            </a:r>
            <a:endParaRPr lang="en-US" sz="900" dirty="0"/>
          </a:p>
        </p:txBody>
      </p:sp>
      <p:sp>
        <p:nvSpPr>
          <p:cNvPr id="8" name="Text 4"/>
          <p:cNvSpPr txBox="1"/>
          <p:nvPr/>
        </p:nvSpPr>
        <p:spPr>
          <a:xfrm>
            <a:off x="4937760" y="123444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F2A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3400" dirty="0"/>
          </a:p>
        </p:txBody>
      </p:sp>
      <p:sp>
        <p:nvSpPr>
          <p:cNvPr id="9" name="Text 5"/>
          <p:cNvSpPr txBox="1"/>
          <p:nvPr/>
        </p:nvSpPr>
        <p:spPr>
          <a:xfrm>
            <a:off x="4937760" y="1920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7C84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 persons tracked over 217 frames (b)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937760" y="233172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F2A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3400" dirty="0"/>
          </a:p>
        </p:txBody>
      </p:sp>
      <p:sp>
        <p:nvSpPr>
          <p:cNvPr id="11" name="Text 7"/>
          <p:cNvSpPr txBox="1"/>
          <p:nvPr/>
        </p:nvSpPr>
        <p:spPr>
          <a:xfrm>
            <a:off x="4937760" y="30175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7C84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persons in scene at once (b)</a:t>
            </a:r>
            <a:endParaRPr lang="en-US" sz="1100" dirty="0"/>
          </a:p>
        </p:txBody>
      </p:sp>
      <p:sp>
        <p:nvSpPr>
          <p:cNvPr id="12" name="Text 8"/>
          <p:cNvSpPr txBox="1"/>
          <p:nvPr/>
        </p:nvSpPr>
        <p:spPr>
          <a:xfrm>
            <a:off x="4937760" y="342900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F2A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400" dirty="0"/>
          </a:p>
        </p:txBody>
      </p:sp>
      <p:sp>
        <p:nvSpPr>
          <p:cNvPr id="13" name="Text 9"/>
          <p:cNvSpPr txBox="1"/>
          <p:nvPr/>
        </p:nvSpPr>
        <p:spPr>
          <a:xfrm>
            <a:off x="4937760" y="41148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7C84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persons inside region (d)</a:t>
            </a:r>
            <a:endParaRPr lang="en-US" sz="1100" dirty="0"/>
          </a:p>
        </p:txBody>
      </p:sp>
      <p:sp>
        <p:nvSpPr>
          <p:cNvPr id="14" name="Text 10"/>
          <p:cNvSpPr txBox="1"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C84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 · 432×768 px, 25 fps, 8.7 s. Highest ID assigned is 19 while 14 were confirmed: ByteTrack drops short-lived tracks, and occlusions cause a few ID switches.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548640" cy="548640"/>
          </a:xfrm>
          <a:prstGeom prst="ellipse">
            <a:avLst/>
          </a:prstGeom>
          <a:solidFill>
            <a:srgbClr val="F2A33C"/>
          </a:solidFill>
          <a:ln w="12700">
            <a:solidFill>
              <a:srgbClr val="F2A33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 txBox="1"/>
          <p:nvPr/>
        </p:nvSpPr>
        <p:spPr>
          <a:xfrm>
            <a:off x="457200" y="3657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60" b="1" dirty="0">
                <a:solidFill>
                  <a:srgbClr val="232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6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320040"/>
            <a:ext cx="7543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32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Classification — motor state of health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2743200" cy="34290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9525">
            <a:solidFill>
              <a:srgbClr val="E4E6EB"/>
            </a:solidFill>
            <a:prstDash val="solid"/>
          </a:ln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 txBox="1"/>
          <p:nvPr/>
        </p:nvSpPr>
        <p:spPr>
          <a:xfrm>
            <a:off x="685800" y="135331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2A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Objective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755648"/>
            <a:ext cx="228600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Dataset: fault-classification-class</a:t>
            </a:r>
            <a:endParaRPr lang="en-US" sz="12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ML model to determine state of health of the motor</a:t>
            </a:r>
            <a:endParaRPr lang="en-US" sz="12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(b) Train/val loss, confusion matrix, classification report</a:t>
            </a:r>
            <a:endParaRPr lang="en-US" sz="12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(c) Compare with the class baseline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383280" y="1188720"/>
            <a:ext cx="2743200" cy="34290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9525">
            <a:solidFill>
              <a:srgbClr val="E4E6EB"/>
            </a:solidFill>
            <a:prstDash val="solid"/>
          </a:ln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 txBox="1"/>
          <p:nvPr/>
        </p:nvSpPr>
        <p:spPr>
          <a:xfrm>
            <a:off x="3611880" y="135331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2A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Method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3611880" y="1755648"/>
            <a:ext cx="228600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architecture: ___</a:t>
            </a:r>
            <a:endParaRPr lang="en-US" sz="12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size, preprocessing: ___</a:t>
            </a:r>
            <a:endParaRPr lang="en-US" sz="12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Optimiser, learning rate, epochs, batch: ___</a:t>
            </a:r>
            <a:endParaRPr lang="en-US" sz="12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from class: ___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309360" y="1188720"/>
            <a:ext cx="2377440" cy="1600200"/>
          </a:xfrm>
          <a:prstGeom prst="roundRect">
            <a:avLst>
              <a:gd name="adj" fmla="val 4571"/>
            </a:avLst>
          </a:prstGeom>
          <a:solidFill>
            <a:srgbClr val="EEF0F4"/>
          </a:solidFill>
          <a:ln w="12700">
            <a:solidFill>
              <a:srgbClr val="8A93A6"/>
            </a:solidFill>
            <a:prstDash val="dash"/>
          </a:ln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 txBox="1"/>
          <p:nvPr/>
        </p:nvSpPr>
        <p:spPr>
          <a:xfrm>
            <a:off x="6446520" y="1188720"/>
            <a:ext cx="21031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2A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 curves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309360" y="3017520"/>
            <a:ext cx="2377440" cy="1600200"/>
          </a:xfrm>
          <a:prstGeom prst="roundRect">
            <a:avLst>
              <a:gd name="adj" fmla="val 4571"/>
            </a:avLst>
          </a:prstGeom>
          <a:solidFill>
            <a:srgbClr val="EEF0F4"/>
          </a:solidFill>
          <a:ln w="12700">
            <a:solidFill>
              <a:srgbClr val="8A93A6"/>
            </a:solidFill>
            <a:prstDash val="dash"/>
          </a:ln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 txBox="1"/>
          <p:nvPr/>
        </p:nvSpPr>
        <p:spPr>
          <a:xfrm>
            <a:off x="6446520" y="3017520"/>
            <a:ext cx="21031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2A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confusion matrix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C84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 · Comparison table (params, inference time, accuracy, precision, recall, F1) on the next slide or here.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548640" cy="548640"/>
          </a:xfrm>
          <a:prstGeom prst="ellipse">
            <a:avLst/>
          </a:prstGeom>
          <a:solidFill>
            <a:srgbClr val="F2A33C"/>
          </a:solidFill>
          <a:ln w="12700">
            <a:solidFill>
              <a:srgbClr val="F2A33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 txBox="1"/>
          <p:nvPr/>
        </p:nvSpPr>
        <p:spPr>
          <a:xfrm>
            <a:off x="457200" y="3657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60" b="1" dirty="0">
                <a:solidFill>
                  <a:srgbClr val="232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6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320040"/>
            <a:ext cx="7543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32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CIFAR-10 — fusion, transfer, fine-tuning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265176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E4E6EB"/>
            </a:solidFill>
            <a:prstDash val="solid"/>
          </a:ln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 txBox="1"/>
          <p:nvPr/>
        </p:nvSpPr>
        <p:spPr>
          <a:xfrm>
            <a:off x="685800" y="1353312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2A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(a) Model fusion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755648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pretrained backbones (MobileNetV2 + ___) as frozen feature extractors</a:t>
            </a:r>
            <a:endParaRPr lang="en-US" sz="11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 concatenated → dense head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46120" y="1188720"/>
            <a:ext cx="265176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E4E6EB"/>
            </a:solidFill>
            <a:prstDash val="solid"/>
          </a:ln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 txBox="1"/>
          <p:nvPr/>
        </p:nvSpPr>
        <p:spPr>
          <a:xfrm>
            <a:off x="3474720" y="1353312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2A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(b) Transfer learning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3474720" y="1755648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MobileNetV2 (ImageNet), frozen</a:t>
            </a:r>
            <a:endParaRPr lang="en-US" sz="11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 → BatchNorm → dense head trained on CIFAR-10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035040" y="1188720"/>
            <a:ext cx="265176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E4E6EB"/>
            </a:solidFill>
            <a:prstDash val="solid"/>
          </a:ln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 txBox="1"/>
          <p:nvPr/>
        </p:nvSpPr>
        <p:spPr>
          <a:xfrm>
            <a:off x="6263640" y="1353312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2A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(c) Fine-tuning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6263640" y="1755648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Unfreeze top layers of the backbone</a:t>
            </a:r>
            <a:endParaRPr lang="en-US" sz="11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learning rate, continue training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3291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C84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Setup: images resized to 96×96, batch 64, up to 30 epochs, 10 % of train as validation, seed 42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3611880"/>
            <a:ext cx="8229600" cy="1005840"/>
          </a:xfrm>
          <a:prstGeom prst="roundRect">
            <a:avLst>
              <a:gd name="adj" fmla="val 7273"/>
            </a:avLst>
          </a:prstGeom>
          <a:solidFill>
            <a:srgbClr val="EEF0F4"/>
          </a:solidFill>
          <a:ln w="12700">
            <a:solidFill>
              <a:srgbClr val="8A93A6"/>
            </a:solidFill>
            <a:prstDash val="dash"/>
          </a:ln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 txBox="1"/>
          <p:nvPr/>
        </p:nvSpPr>
        <p:spPr>
          <a:xfrm>
            <a:off x="594360" y="3611880"/>
            <a:ext cx="7955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2A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(d) Comparison table: accuracy · precision · recall · F1 · parameters · inference time for (a), (b), (c)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C84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Q5 · Fill in the second backbone used in the fusion model and the fine-tuning details from the notebook.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548640" cy="548640"/>
          </a:xfrm>
          <a:prstGeom prst="ellipse">
            <a:avLst/>
          </a:prstGeom>
          <a:solidFill>
            <a:srgbClr val="F2A33C"/>
          </a:solidFill>
          <a:ln w="12700">
            <a:solidFill>
              <a:srgbClr val="F2A33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 txBox="1"/>
          <p:nvPr/>
        </p:nvSpPr>
        <p:spPr>
          <a:xfrm>
            <a:off x="457200" y="3657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60" b="1" dirty="0">
                <a:solidFill>
                  <a:srgbClr val="232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56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320040"/>
            <a:ext cx="7543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32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Autoencoder — compress and reconstruct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2743200" cy="34290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9525">
            <a:solidFill>
              <a:srgbClr val="E4E6EB"/>
            </a:solidFill>
            <a:prstDash val="solid"/>
          </a:ln>
          <a:effectLst>
            <a:outerShdw blurRad="762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 txBox="1"/>
          <p:nvPr/>
        </p:nvSpPr>
        <p:spPr>
          <a:xfrm>
            <a:off x="685800" y="135331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2A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Objective &amp; method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755648"/>
            <a:ext cx="228600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Dataset: fault-classification-class, loaded as 64×64 grayscale</a:t>
            </a:r>
            <a:endParaRPr lang="en-US" sz="12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Dense autoencoder: 4096 → latent 32 → 4096</a:t>
            </a:r>
            <a:endParaRPr lang="en-US" sz="12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Trained 50 epochs, batch 32, MSE reconstruction loss</a:t>
            </a:r>
            <a:endParaRPr lang="en-US" sz="12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3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10 random images per class: original, latent vector, reconstruction, error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383280" y="1188720"/>
            <a:ext cx="5303520" cy="2103120"/>
          </a:xfrm>
          <a:prstGeom prst="roundRect">
            <a:avLst>
              <a:gd name="adj" fmla="val 3478"/>
            </a:avLst>
          </a:prstGeom>
          <a:solidFill>
            <a:srgbClr val="EEF0F4"/>
          </a:solidFill>
          <a:ln w="12700">
            <a:solidFill>
              <a:srgbClr val="8A93A6"/>
            </a:solidFill>
            <a:prstDash val="dash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 txBox="1"/>
          <p:nvPr/>
        </p:nvSpPr>
        <p:spPr>
          <a:xfrm>
            <a:off x="3520440" y="1188720"/>
            <a:ext cx="50292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2A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Grid: original → latent (32 values as bar/heat strip) → reconstruction, 10 images per class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383280" y="3429000"/>
            <a:ext cx="5303520" cy="1188720"/>
          </a:xfrm>
          <a:prstGeom prst="roundRect">
            <a:avLst>
              <a:gd name="adj" fmla="val 6154"/>
            </a:avLst>
          </a:prstGeom>
          <a:solidFill>
            <a:srgbClr val="EEF0F4"/>
          </a:solidFill>
          <a:ln w="12700">
            <a:solidFill>
              <a:srgbClr val="8A93A6"/>
            </a:solidFill>
            <a:prstDash val="dash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 txBox="1"/>
          <p:nvPr/>
        </p:nvSpPr>
        <p:spPr>
          <a:xfrm>
            <a:off x="3520440" y="3429000"/>
            <a:ext cx="5029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2A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 chart or table: mean reconstruction error per class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C84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Q6 · Discuss which class reconstructs worst and why (higher-frequency texture, fewer samples, ...).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2326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Summary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384048" cy="384048"/>
          </a:xfrm>
          <a:prstGeom prst="ellipse">
            <a:avLst/>
          </a:prstGeom>
          <a:solidFill>
            <a:srgbClr val="F2A33C"/>
          </a:solidFill>
          <a:ln w="12700">
            <a:solidFill>
              <a:srgbClr val="F2A33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Text 2"/>
          <p:cNvSpPr txBox="1"/>
          <p:nvPr/>
        </p:nvSpPr>
        <p:spPr>
          <a:xfrm>
            <a:off x="548640" y="1143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92" b="1" dirty="0">
                <a:solidFill>
                  <a:srgbClr val="232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092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1143000"/>
            <a:ext cx="7498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YOLO11n trained on auto-annotated L515 frames: mAP50 = 0.92 (mAP50-95 = 0.31) on unseen test video; depth read at the box centre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709928"/>
            <a:ext cx="384048" cy="384048"/>
          </a:xfrm>
          <a:prstGeom prst="ellipse">
            <a:avLst/>
          </a:prstGeom>
          <a:solidFill>
            <a:srgbClr val="F2A33C"/>
          </a:solidFill>
          <a:ln w="12700">
            <a:solidFill>
              <a:srgbClr val="F2A33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Text 5"/>
          <p:cNvSpPr txBox="1"/>
          <p:nvPr/>
        </p:nvSpPr>
        <p:spPr>
          <a:xfrm>
            <a:off x="548640" y="1709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92" b="1" dirty="0">
                <a:solidFill>
                  <a:srgbClr val="232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092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1709928"/>
            <a:ext cx="7498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Trajectory of the load recovered in 100 % of the 150 test frames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2276856"/>
            <a:ext cx="384048" cy="384048"/>
          </a:xfrm>
          <a:prstGeom prst="ellipse">
            <a:avLst/>
          </a:prstGeom>
          <a:solidFill>
            <a:srgbClr val="F2A33C"/>
          </a:solidFill>
          <a:ln w="12700">
            <a:solidFill>
              <a:srgbClr val="F2A33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 txBox="1"/>
          <p:nvPr/>
        </p:nvSpPr>
        <p:spPr>
          <a:xfrm>
            <a:off x="548640" y="22768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92" b="1" dirty="0">
                <a:solidFill>
                  <a:srgbClr val="232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092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2276856"/>
            <a:ext cx="7498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Pretrained COCO segmentation + ByteTrack: 14 persons tracked, up to 8 at once, region counting works without any training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2843784"/>
            <a:ext cx="384048" cy="384048"/>
          </a:xfrm>
          <a:prstGeom prst="ellipse">
            <a:avLst/>
          </a:prstGeom>
          <a:solidFill>
            <a:srgbClr val="F2A33C"/>
          </a:solidFill>
          <a:ln w="12700">
            <a:solidFill>
              <a:srgbClr val="F2A33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 txBox="1"/>
          <p:nvPr/>
        </p:nvSpPr>
        <p:spPr>
          <a:xfrm>
            <a:off x="548640" y="28437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92" b="1" dirty="0">
                <a:solidFill>
                  <a:srgbClr val="232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092" dirty="0"/>
          </a:p>
        </p:txBody>
      </p:sp>
      <p:sp>
        <p:nvSpPr>
          <p:cNvPr id="14" name="Text 12"/>
          <p:cNvSpPr txBox="1"/>
          <p:nvPr/>
        </p:nvSpPr>
        <p:spPr>
          <a:xfrm>
            <a:off x="1097280" y="2843784"/>
            <a:ext cx="7498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Motor fault classifier: ___ % accuracy vs. baseline ___ %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3410712"/>
            <a:ext cx="384048" cy="384048"/>
          </a:xfrm>
          <a:prstGeom prst="ellipse">
            <a:avLst/>
          </a:prstGeom>
          <a:solidFill>
            <a:srgbClr val="F2A33C"/>
          </a:solidFill>
          <a:ln w="12700">
            <a:solidFill>
              <a:srgbClr val="F2A33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 txBox="1"/>
          <p:nvPr/>
        </p:nvSpPr>
        <p:spPr>
          <a:xfrm>
            <a:off x="548640" y="34107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92" b="1" dirty="0">
                <a:solidFill>
                  <a:srgbClr val="232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092" dirty="0"/>
          </a:p>
        </p:txBody>
      </p:sp>
      <p:sp>
        <p:nvSpPr>
          <p:cNvPr id="17" name="Text 15"/>
          <p:cNvSpPr txBox="1"/>
          <p:nvPr/>
        </p:nvSpPr>
        <p:spPr>
          <a:xfrm>
            <a:off x="1097280" y="3410712"/>
            <a:ext cx="7498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CIFAR-10 method: ___ (acc ___ %)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48640" y="3977640"/>
            <a:ext cx="384048" cy="384048"/>
          </a:xfrm>
          <a:prstGeom prst="ellipse">
            <a:avLst/>
          </a:prstGeom>
          <a:solidFill>
            <a:srgbClr val="F2A33C"/>
          </a:solidFill>
          <a:ln w="12700">
            <a:solidFill>
              <a:srgbClr val="F2A33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 txBox="1"/>
          <p:nvPr/>
        </p:nvSpPr>
        <p:spPr>
          <a:xfrm>
            <a:off x="548640" y="3977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92" b="1" dirty="0">
                <a:solidFill>
                  <a:srgbClr val="232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092" dirty="0"/>
          </a:p>
        </p:txBody>
      </p:sp>
      <p:sp>
        <p:nvSpPr>
          <p:cNvPr id="20" name="Text 18"/>
          <p:cNvSpPr txBox="1"/>
          <p:nvPr/>
        </p:nvSpPr>
        <p:spPr>
          <a:xfrm>
            <a:off x="1097280" y="3977640"/>
            <a:ext cx="7498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Autoencoder with 32-D latent space: mean error ___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1469</Words>
  <Application>Microsoft Office PowerPoint</Application>
  <PresentationFormat>On-screen Show (16:9)</PresentationFormat>
  <Paragraphs>219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Are Gundersen</cp:lastModifiedBy>
  <cp:revision>2</cp:revision>
  <dcterms:created xsi:type="dcterms:W3CDTF">2026-09-29T13:05:39Z</dcterms:created>
  <dcterms:modified xsi:type="dcterms:W3CDTF">2026-09-29T13:10:35Z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695cf23d-70b0-4a80-9221-1d774ac27fb2_Enabled">
    <vt:lpwstr>true</vt:lpwstr>
  </property>
  <property fmtid="{D5CDD505-2E9C-101B-9397-08002B2CF9AE}" pid="3" name="MSIP_Label_695cf23d-70b0-4a80-9221-1d774ac27fb2_SetDate">
    <vt:lpwstr>2026-09-29T13:10:33Z</vt:lpwstr>
  </property>
  <property fmtid="{D5CDD505-2E9C-101B-9397-08002B2CF9AE}" pid="4" name="MSIP_Label_695cf23d-70b0-4a80-9221-1d774ac27fb2_Method">
    <vt:lpwstr>Standard</vt:lpwstr>
  </property>
  <property fmtid="{D5CDD505-2E9C-101B-9397-08002B2CF9AE}" pid="5" name="MSIP_Label_695cf23d-70b0-4a80-9221-1d774ac27fb2_Name">
    <vt:lpwstr>Document internal</vt:lpwstr>
  </property>
  <property fmtid="{D5CDD505-2E9C-101B-9397-08002B2CF9AE}" pid="6" name="MSIP_Label_695cf23d-70b0-4a80-9221-1d774ac27fb2_SiteId">
    <vt:lpwstr>8482881e-3699-4b3f-b135-cf4800bc1efb</vt:lpwstr>
  </property>
  <property fmtid="{D5CDD505-2E9C-101B-9397-08002B2CF9AE}" pid="7" name="MSIP_Label_695cf23d-70b0-4a80-9221-1d774ac27fb2_ActionId">
    <vt:lpwstr>a9cadeb7-3fb3-452f-a852-6ece1a581bfc</vt:lpwstr>
  </property>
  <property fmtid="{D5CDD505-2E9C-101B-9397-08002B2CF9AE}" pid="8" name="MSIP_Label_695cf23d-70b0-4a80-9221-1d774ac27fb2_ContentBits">
    <vt:lpwstr>0</vt:lpwstr>
  </property>
  <property fmtid="{D5CDD505-2E9C-101B-9397-08002B2CF9AE}" pid="9" name="MSIP_Label_695cf23d-70b0-4a80-9221-1d774ac27fb2_Tag">
    <vt:lpwstr>10, 3, 0, 1</vt:lpwstr>
  </property>
</Properties>
</file>