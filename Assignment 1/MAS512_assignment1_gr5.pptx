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3" r:id="rId13"/>
    <p:sldId id="274" r:id="rId14"/>
    <p:sldId id="275" r:id="rId15"/>
    <p:sldId id="276" r:id="rId16"/>
    <p:sldId id="267" r:id="rId17"/>
    <p:sldId id="272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9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10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MAS512 · Assignment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detection, tracking,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and classification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  ·  University of Agder  ·  Autumn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123942"/>
            <a:ext cx="4572000" cy="347473"/>
          </a:xfrm>
          <a:prstGeom prst="roundRect">
            <a:avLst>
              <a:gd name="adj" fmla="val 13333"/>
            </a:avLst>
          </a:prstGeom>
          <a:solidFill>
            <a:srgbClr val="EEF0F4"/>
          </a:solidFill>
          <a:ln w="12700">
            <a:solidFill>
              <a:srgbClr val="8A93A6"/>
            </a:solidFill>
            <a:prstDash val="solid"/>
          </a:ln>
        </p:spPr>
        <p:txBody>
          <a:bodyPr/>
          <a:lstStyle/>
          <a:p>
            <a:pPr algn="ctr"/>
            <a:r>
              <a:rPr lang="en-GB" sz="1200" dirty="0"/>
              <a:t>Are Gundersen, Sebastian Steenfeldt-Gjersøe</a:t>
            </a:r>
          </a:p>
        </p:txBody>
      </p:sp>
      <p:sp>
        <p:nvSpPr>
          <p:cNvPr id="7" name="Shape 5"/>
          <p:cNvSpPr/>
          <p:nvPr/>
        </p:nvSpPr>
        <p:spPr>
          <a:xfrm>
            <a:off x="6309360" y="3794760"/>
            <a:ext cx="347472" cy="34747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 txBox="1"/>
          <p:nvPr/>
        </p:nvSpPr>
        <p:spPr>
          <a:xfrm>
            <a:off x="63093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88" dirty="0"/>
          </a:p>
        </p:txBody>
      </p:sp>
      <p:sp>
        <p:nvSpPr>
          <p:cNvPr id="9" name="Shape 7"/>
          <p:cNvSpPr/>
          <p:nvPr/>
        </p:nvSpPr>
        <p:spPr>
          <a:xfrm>
            <a:off x="6720840" y="3794760"/>
            <a:ext cx="347472" cy="347472"/>
          </a:xfrm>
          <a:prstGeom prst="ellipse">
            <a:avLst/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672084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88" dirty="0"/>
          </a:p>
        </p:txBody>
      </p:sp>
      <p:sp>
        <p:nvSpPr>
          <p:cNvPr id="11" name="Shape 9"/>
          <p:cNvSpPr/>
          <p:nvPr/>
        </p:nvSpPr>
        <p:spPr>
          <a:xfrm>
            <a:off x="7132320" y="3794760"/>
            <a:ext cx="347472" cy="34747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713232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88" dirty="0"/>
          </a:p>
        </p:txBody>
      </p:sp>
      <p:sp>
        <p:nvSpPr>
          <p:cNvPr id="13" name="Shape 11"/>
          <p:cNvSpPr/>
          <p:nvPr/>
        </p:nvSpPr>
        <p:spPr>
          <a:xfrm>
            <a:off x="7543800" y="3794760"/>
            <a:ext cx="347472" cy="347472"/>
          </a:xfrm>
          <a:prstGeom prst="ellipse">
            <a:avLst/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754380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88" dirty="0"/>
          </a:p>
        </p:txBody>
      </p:sp>
      <p:sp>
        <p:nvSpPr>
          <p:cNvPr id="15" name="Shape 13"/>
          <p:cNvSpPr/>
          <p:nvPr/>
        </p:nvSpPr>
        <p:spPr>
          <a:xfrm>
            <a:off x="7955280" y="3794760"/>
            <a:ext cx="347472" cy="347472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795528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88" dirty="0"/>
          </a:p>
        </p:txBody>
      </p:sp>
      <p:sp>
        <p:nvSpPr>
          <p:cNvPr id="17" name="Shape 15"/>
          <p:cNvSpPr/>
          <p:nvPr/>
        </p:nvSpPr>
        <p:spPr>
          <a:xfrm>
            <a:off x="8366760" y="3794760"/>
            <a:ext cx="347472" cy="347472"/>
          </a:xfrm>
          <a:prstGeom prst="ellipse">
            <a:avLst/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36676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 &amp; depth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YOLO on L515 frames of a swinging load; KPIs, boxes, depth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 txBox="1"/>
          <p:nvPr/>
        </p:nvSpPr>
        <p:spPr>
          <a:xfrm>
            <a:off x="3474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Text 10"/>
          <p:cNvSpPr txBox="1"/>
          <p:nvPr/>
        </p:nvSpPr>
        <p:spPr>
          <a:xfrm>
            <a:off x="402336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tracking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of the load in test_swingingload.avi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630936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Multi-object segmentation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Segment, count, track persons; count inside a region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331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7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state-of-health model vs. class baseline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286000" y="4069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3474720" y="310896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34747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70" dirty="0"/>
          </a:p>
        </p:txBody>
      </p:sp>
      <p:sp>
        <p:nvSpPr>
          <p:cNvPr id="30" name="Text 28"/>
          <p:cNvSpPr txBox="1"/>
          <p:nvPr/>
        </p:nvSpPr>
        <p:spPr>
          <a:xfrm>
            <a:off x="402336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 classification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fusion, transfer learning, fine-tuning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4069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92608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309360" y="3108960"/>
            <a:ext cx="411480" cy="41148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3093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7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7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611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compression &amp; reconstruction of fault images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0" y="40690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detection and depth estimation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19"/>
            <a:ext cx="3931920" cy="1871565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13533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55648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swinging load in RGB frames from the Intel RealSense L515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a YOLO model (YOLO_swinging_load.pt) on a 30 s recording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an independent 5 s test recording and read out depth at the load centre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4114800" cy="1871564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80060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75564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Train/val: rgb_train_val_swingingload.avi → PNG frames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test_swingingload.avi → RGB frames + raw depth (.npy)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class: Payload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51725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57200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L515 video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73352" y="3563205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856232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1856232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072384" y="3563205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255264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3255264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Auto-annotate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(background subtraction)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71416" y="3563205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54296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4654296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20 train / val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870448" y="3563205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53328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6053328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563205"/>
            <a:ext cx="201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452360" y="3563205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7452360" y="3563205"/>
            <a:ext cx="1234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depth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Script: Q1_ObjectDetection.py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annotation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5564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B = per-pixel median over all grayscale frames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|I − B| smoothed with Gaussian (σ = 1.5)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with diff &gt; 55 marked as moving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(rope, shadows) removed: keep pixels within 70 px of the mean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= extent of remaining pixels → YOLO label (class 0, normalised cx, cy, w, 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61188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training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755648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train frames shuffled, 20 % held out for validation (seed 0)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data.yaml with train / val / test splits, 1 class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model: yolo11n.pt (pretrained on COCO)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 640, batch 32, up to 100 epochs, early stopping patience 10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saved as YOLO_swinging_load.pt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377440" cy="33832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6537960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755648"/>
            <a:ext cx="1920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model.val() on the test split → precision, recall, mAP50, mAP50-95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most confident box per frame, conf ≥ 0.5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Depth: median of a 5×5 window around the box centre in the raw depth frame, × 0.00025 m/unit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Why automatic annotation: one moving object on a static background makes background subtraction reliable and saves manual labelling of hundreds of frames.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(a) — performance on the test set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46888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0.887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2801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endParaRPr lang="en-US" sz="1100" dirty="0"/>
          </a:p>
        </p:txBody>
      </p:sp>
      <p:pic>
        <p:nvPicPr>
          <p:cNvPr id="13" name="Image 0" descr="/home/claude/deck/pr_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468880"/>
            <a:ext cx="4023360" cy="2194560"/>
          </a:xfrm>
          <a:prstGeom prst="rect">
            <a:avLst/>
          </a:prstGeom>
        </p:spPr>
      </p:pic>
      <p:pic>
        <p:nvPicPr>
          <p:cNvPr id="14" name="Image 1" descr="/home/claude/deck/cm_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468880"/>
            <a:ext cx="4023360" cy="21945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P and R reported at the F1-optimal confidence (0.52). Confusion matrix (conf 0.25): 147 detected, 3 missed, 6 false positives of 150 test frames.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(b) &amp; (c) — boxes, centres and depth</a:t>
            </a:r>
            <a:endParaRPr lang="en-US" sz="2800" dirty="0"/>
          </a:p>
        </p:txBody>
      </p:sp>
      <p:pic>
        <p:nvPicPr>
          <p:cNvPr id="5" name="Image 0" descr="/home/claude/deck/q1b_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43000"/>
            <a:ext cx="8229600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2926080"/>
            <a:ext cx="3931920" cy="18516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 txBox="1"/>
          <p:nvPr/>
        </p:nvSpPr>
        <p:spPr>
          <a:xfrm>
            <a:off x="685800" y="3090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Centre &amp; depth for all test frames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493008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detected in 147 of 150 frames (missed frames 101, 106, 107)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depth in 145 frames (0 = no L515 measurement)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2.73 – 3.86 m (median 3.16 m); the swing period is visible in both centre_x and depth</a:t>
            </a:r>
            <a:endParaRPr lang="en-US" sz="1200" dirty="0"/>
          </a:p>
        </p:txBody>
      </p:sp>
      <p:pic>
        <p:nvPicPr>
          <p:cNvPr id="9" name="Image 1" descr="/home/claude/deck/q1c_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0" y="2880360"/>
            <a:ext cx="4114800" cy="18973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Depth read from depth_raw/*.npy (not the depth video) to avoid colour-map quantisation. Full table: runs/q1c_center_depth.csv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tracking — load trajectory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19456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1353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55648"/>
            <a:ext cx="1737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load through every frame of test_swingingload.avi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trajectory in the image plane, as in the reference figure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188720"/>
            <a:ext cx="2514600" cy="34290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3017520" y="13533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1755648"/>
            <a:ext cx="2057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YOLO_swinging_load.pt frame by frame (conf ≥ 0.5)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load → keep the most confident box per frame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frame, time, centre (cx, cy), box size and confidence to trajectory.csv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cx vs. cy coloured by frame index (viridis) with a thin connecting line; y-axis inverted to match image coordinates</a:t>
            </a:r>
            <a:endParaRPr lang="en-US" sz="1200" dirty="0"/>
          </a:p>
        </p:txBody>
      </p:sp>
      <p:pic>
        <p:nvPicPr>
          <p:cNvPr id="11" name="Image 0" descr="/home/claude/deck/traj_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40680" y="1188720"/>
            <a:ext cx="3246120" cy="34290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Result: load detected in 150 of 150 frames (100 %) over 5.0 s; the trajectory traces the pendulum arc, with both swing directions overlapping. Script: Q2_ObjectTracking.py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Segmentation, tracking and counting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8580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556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class chosen: COCO / person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with several people in the scene (pedestrians.mp4)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instance segmentation, (b) counting, (c) per-instance tracking, (d) counting inside a drawn region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4E6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4892040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tracker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5564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yolo11n-seg.pt — pretrained on COCO-seg, no training needed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(persist=True) for stable IDs across frames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class 0 (person), conf ≥ 0.4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frame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1514246" cy="777240"/>
          </a:xfrm>
          <a:prstGeom prst="roundRect">
            <a:avLst>
              <a:gd name="adj" fmla="val 7059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457200" y="3520440"/>
            <a:ext cx="151424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model.track()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masks + boxes + IDs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953158" y="35204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36038" y="3520440"/>
            <a:ext cx="1514246" cy="777240"/>
          </a:xfrm>
          <a:prstGeom prst="roundRect">
            <a:avLst>
              <a:gd name="adj" fmla="val 7059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2136038" y="3520440"/>
            <a:ext cx="151424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count boxes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collect unique IDs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31997" y="35204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814877" y="3520440"/>
            <a:ext cx="1514246" cy="777240"/>
          </a:xfrm>
          <a:prstGeom prst="roundRect">
            <a:avLst>
              <a:gd name="adj" fmla="val 7059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3814877" y="3520440"/>
            <a:ext cx="151424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centre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(cx, cy)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310835" y="35204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93715" y="3520440"/>
            <a:ext cx="1514246" cy="777240"/>
          </a:xfrm>
          <a:prstGeom prst="roundRect">
            <a:avLst>
              <a:gd name="adj" fmla="val 7059"/>
            </a:avLst>
          </a:prstGeom>
          <a:solidFill>
            <a:srgbClr val="2E3240"/>
          </a:solidFill>
          <a:ln w="12700">
            <a:solidFill>
              <a:srgbClr val="2E324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5493715" y="3520440"/>
            <a:ext cx="151424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pointPolygonTest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region?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89674" y="3520440"/>
            <a:ext cx="201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494"/>
                </a:solidFill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172554" y="3520440"/>
            <a:ext cx="1514246" cy="777240"/>
          </a:xfrm>
          <a:prstGeom prst="roundRect">
            <a:avLst>
              <a:gd name="adj" fmla="val 7059"/>
            </a:avLst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7172554" y="3520440"/>
            <a:ext cx="1514246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region,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video out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Region = upper half of the frame, defined as a polygon so it scales with the video resolution. Notebook: Q3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800" dirty="0"/>
          </a:p>
        </p:txBody>
      </p:sp>
      <p:pic>
        <p:nvPicPr>
          <p:cNvPr id="5" name="Image 0" descr="/home/claude/deck/q3a_f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188720"/>
            <a:ext cx="1874520" cy="3246120"/>
          </a:xfrm>
          <a:prstGeom prst="rect">
            <a:avLst/>
          </a:prstGeom>
        </p:spPr>
      </p:pic>
      <p:pic>
        <p:nvPicPr>
          <p:cNvPr id="6" name="Image 1" descr="/home/claude/deck/q3b_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68880" y="1188720"/>
            <a:ext cx="187452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49884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56 and 106 of q3_output.mp4 — masks and IDs (blue), region (magenta), centre dot green = inside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937760" y="12344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persons tracked over 217 frames (b)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331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persons in scene at once (b)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34290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persons inside region (d)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C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432×768 px, 25 fps, 8.7 s. Highest ID assigned is 19 while 14 were confirmed: ByteTrack drops short-lived tracks, and occlusions cause a few ID switches.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— motor state of health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046220" cy="123444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544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Classify motor health: healthy or faulty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Compare our CNN with the class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40580" y="1097280"/>
            <a:ext cx="4046220" cy="1234440"/>
          </a:xfrm>
          <a:prstGeom prst="roundRect">
            <a:avLst>
              <a:gd name="adj" fmla="val 7416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0" y="11704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60×175 RGB, 80/20 train/val + test set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Adam, LR 1e-4, 15 epochs — same for both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8229600" cy="2148840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806315"/>
            <a:ext cx="14173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00" b="1" i="0" dirty="0">
                <a:solidFill>
                  <a:srgbClr val="23262F"/>
                </a:solidFill>
                <a:latin typeface="Cambria"/>
                <a:ea typeface="Cambria"/>
                <a:cs typeface="Cambria"/>
              </a:rPr>
              <a:t>Baseline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35808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C97F17"/>
                </a:solidFill>
                <a:latin typeface="Calibri"/>
                <a:ea typeface="Calibri"/>
                <a:cs typeface="Calibri"/>
              </a:rPr>
              <a:t>9 339 parameters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3035808"/>
            <a:ext cx="4882896" cy="0"/>
          </a:xfrm>
          <a:prstGeom prst="line">
            <a:avLst/>
          </a:prstGeom>
          <a:ln w="12700">
            <a:solidFill>
              <a:srgbClr val="9AA1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48840" y="2784348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A9D6F0"/>
          </a:solidFill>
          <a:ln w="9525">
            <a:solidFill>
              <a:srgbClr val="6FB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60×175×3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14016" y="2784348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7E9BE0"/>
          </a:solidFill>
          <a:ln w="9525">
            <a:solidFill>
              <a:srgbClr val="5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679192" y="2784348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80944" y="2843784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18688" y="2784348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16936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2843784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58184" y="2784348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56432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59936" y="2843784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97680" y="2784348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95928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2843784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837176" y="2843784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E3DDF1"/>
          </a:solidFill>
          <a:ln w="9525">
            <a:solidFill>
              <a:srgbClr val="B6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47488" y="2784348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C9C2E6"/>
          </a:solidFill>
          <a:ln w="9525">
            <a:solidFill>
              <a:srgbClr val="8F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27448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144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92624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77840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43016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522976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08192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88152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73368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53328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64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38544" y="2843784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DDE7F5"/>
          </a:solidFill>
          <a:ln w="9525">
            <a:solidFill>
              <a:srgbClr val="9FB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848856" y="2843784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9AA1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28816" y="2606040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52044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200" b="1" i="0">
                <a:solidFill>
                  <a:srgbClr val="23262F"/>
                </a:solidFill>
                <a:latin typeface="Cambria"/>
                <a:ea typeface="Cambria"/>
                <a:cs typeface="Cambria"/>
              </a:rPr>
              <a:t>Our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79476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100" b="1" i="0">
                <a:solidFill>
                  <a:srgbClr val="C97F17"/>
                </a:solidFill>
                <a:latin typeface="Calibri"/>
                <a:ea typeface="Calibri"/>
                <a:cs typeface="Calibri"/>
              </a:rPr>
              <a:t>6 594 parameters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148840" y="3794760"/>
            <a:ext cx="3072384" cy="0"/>
          </a:xfrm>
          <a:prstGeom prst="line">
            <a:avLst/>
          </a:prstGeom>
          <a:ln w="12700">
            <a:solidFill>
              <a:srgbClr val="9AA1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148840" y="3543300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A9D6F0"/>
          </a:solidFill>
          <a:ln w="9525">
            <a:solidFill>
              <a:srgbClr val="6FB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0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60×175×3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14016" y="3543300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7E9BE0"/>
          </a:solidFill>
          <a:ln w="9525">
            <a:solidFill>
              <a:srgbClr val="5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679192" y="3543300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77440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980944" y="3602736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218688" y="3543300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916936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20440" y="3602736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758184" y="3543300"/>
            <a:ext cx="219456" cy="502920"/>
          </a:xfrm>
          <a:prstGeom prst="roundRect">
            <a:avLst>
              <a:gd name="adj" fmla="val 18000"/>
            </a:avLst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56432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59936" y="3602736"/>
            <a:ext cx="155448" cy="384048"/>
          </a:xfrm>
          <a:prstGeom prst="roundRect">
            <a:avLst>
              <a:gd name="adj" fmla="val 18000"/>
            </a:avLst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297680" y="3543300"/>
            <a:ext cx="182880" cy="502920"/>
          </a:xfrm>
          <a:prstGeom prst="roundRect">
            <a:avLst>
              <a:gd name="adj" fmla="val 18000"/>
            </a:avLst>
          </a:prstGeom>
          <a:solidFill>
            <a:srgbClr val="F2A33C"/>
          </a:solidFill>
          <a:ln w="9525">
            <a:solidFill>
              <a:srgbClr val="C9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77639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62856" y="3602736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42816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28032" y="3602736"/>
            <a:ext cx="128016" cy="384048"/>
          </a:xfrm>
          <a:prstGeom prst="roundRect">
            <a:avLst>
              <a:gd name="adj" fmla="val 18000"/>
            </a:avLst>
          </a:prstGeom>
          <a:solidFill>
            <a:srgbClr val="DDE7F5"/>
          </a:solidFill>
          <a:ln w="9525">
            <a:solidFill>
              <a:srgbClr val="9FB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038344" y="3602736"/>
            <a:ext cx="18288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9AA1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718304" y="3364992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ctr">
              <a:buNone/>
            </a:pPr>
            <a:r>
              <a:rPr sz="8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0" y="365760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900" b="0" i="1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Numbers = filters / units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85800" y="4279392"/>
            <a:ext cx="128016" cy="128016"/>
          </a:xfrm>
          <a:prstGeom prst="roundRect">
            <a:avLst/>
          </a:prstGeom>
          <a:solidFill>
            <a:srgbClr val="A9D6F0"/>
          </a:solidFill>
          <a:ln w="9525">
            <a:solidFill>
              <a:srgbClr val="6FB3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9536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Input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472184" y="4279392"/>
            <a:ext cx="128016" cy="128016"/>
          </a:xfrm>
          <a:prstGeom prst="roundRect">
            <a:avLst/>
          </a:prstGeom>
          <a:solidFill>
            <a:srgbClr val="7E9BE0"/>
          </a:solidFill>
          <a:ln w="9525">
            <a:solidFill>
              <a:srgbClr val="5B7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645919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Normalise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258568" y="4279392"/>
            <a:ext cx="128016" cy="128016"/>
          </a:xfrm>
          <a:prstGeom prst="roundRect">
            <a:avLst/>
          </a:prstGeom>
          <a:solidFill>
            <a:srgbClr val="FCE3B6"/>
          </a:solidFill>
          <a:ln w="9525">
            <a:solidFill>
              <a:srgbClr val="E8B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32303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Conv 3×3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044951" y="4279392"/>
            <a:ext cx="128016" cy="128016"/>
          </a:xfrm>
          <a:prstGeom prst="roundRect">
            <a:avLst/>
          </a:prstGeom>
          <a:solidFill>
            <a:srgbClr val="F6C9C9"/>
          </a:solidFill>
          <a:ln w="9525">
            <a:solidFill>
              <a:srgbClr val="DE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3218687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MaxPool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31335" y="4279392"/>
            <a:ext cx="128016" cy="128016"/>
          </a:xfrm>
          <a:prstGeom prst="roundRect">
            <a:avLst/>
          </a:prstGeom>
          <a:solidFill>
            <a:srgbClr val="E3DDF1"/>
          </a:solidFill>
          <a:ln w="9525">
            <a:solidFill>
              <a:srgbClr val="B6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005072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BatchNorm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617720" y="4279392"/>
            <a:ext cx="128016" cy="128016"/>
          </a:xfrm>
          <a:prstGeom prst="roundRect">
            <a:avLst/>
          </a:prstGeom>
          <a:solidFill>
            <a:srgbClr val="C9C2E6"/>
          </a:solidFill>
          <a:ln w="9525">
            <a:solidFill>
              <a:srgbClr val="8F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791456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Flatten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404104" y="4279392"/>
            <a:ext cx="128016" cy="128016"/>
          </a:xfrm>
          <a:prstGeom prst="roundRect">
            <a:avLst/>
          </a:prstGeom>
          <a:solidFill>
            <a:srgbClr val="F2A33C"/>
          </a:solidFill>
          <a:ln w="9525">
            <a:solidFill>
              <a:srgbClr val="C97F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577840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GAP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190488" y="4279392"/>
            <a:ext cx="128016" cy="128016"/>
          </a:xfrm>
          <a:prstGeom prst="roundRect">
            <a:avLst/>
          </a:prstGeom>
          <a:solidFill>
            <a:srgbClr val="D6EAD3"/>
          </a:solidFill>
          <a:ln w="9525">
            <a:solidFill>
              <a:srgbClr val="8FC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64224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Dense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976872" y="4279392"/>
            <a:ext cx="128016" cy="128016"/>
          </a:xfrm>
          <a:prstGeom prst="roundRect">
            <a:avLst/>
          </a:prstGeom>
          <a:solidFill>
            <a:srgbClr val="DDE7F5"/>
          </a:solidFill>
          <a:ln w="9525">
            <a:solidFill>
              <a:srgbClr val="9FB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150608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Dropout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763256" y="4279392"/>
            <a:ext cx="128016" cy="12801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AA1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7936992" y="4242816"/>
            <a:ext cx="6400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9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Softmax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our model vs. baseline</a:t>
            </a:r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13687"/>
              </p:ext>
            </p:extLst>
          </p:nvPr>
        </p:nvGraphicFramePr>
        <p:xfrm>
          <a:off x="457202" y="1012587"/>
          <a:ext cx="8229598" cy="9601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85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15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15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15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1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Parameters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Inference [</a:t>
                      </a: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ms</a:t>
                      </a:r>
                      <a:r>
                        <a:rPr sz="11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/</a:t>
                      </a:r>
                      <a:r>
                        <a:rPr sz="1100" b="1" i="0" dirty="0" err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img</a:t>
                      </a:r>
                      <a:r>
                        <a:rPr sz="1100" b="1" i="0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]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Baseline 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9 339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0.539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Our model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6 594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0.370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0.985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0.971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1.000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0.985</a:t>
                      </a:r>
                      <a:endParaRPr sz="1100" b="0" i="0" dirty="0">
                        <a:solidFill>
                          <a:srgbClr val="23262F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6B5AC953-85AB-9B9C-873A-D75906A77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961" y="2026444"/>
            <a:ext cx="2604935" cy="14570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49077E7-AF37-4772-6AB9-237E6038D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960" y="3620299"/>
            <a:ext cx="2604936" cy="145708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470975A-A15F-74F9-9CC5-84B243DFA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252" y="2021269"/>
            <a:ext cx="1810548" cy="153981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610C914-B471-A74F-6390-F98401C4A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18" y="3620299"/>
            <a:ext cx="1791016" cy="1523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7D1E5FEA-4EE2-C0C5-212D-9D744030332F}"/>
              </a:ext>
            </a:extLst>
          </p:cNvPr>
          <p:cNvSpPr/>
          <p:nvPr/>
        </p:nvSpPr>
        <p:spPr>
          <a:xfrm>
            <a:off x="6135624" y="1097280"/>
            <a:ext cx="2560320" cy="2788920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AE59C8-5319-4F55-2353-20EF28C11BDF}"/>
              </a:ext>
            </a:extLst>
          </p:cNvPr>
          <p:cNvSpPr txBox="1"/>
          <p:nvPr/>
        </p:nvSpPr>
        <p:spPr>
          <a:xfrm>
            <a:off x="6309360" y="1202770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Confusion matrix</a:t>
            </a: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560188C4-7C71-A3B5-5C3A-7B52CC5F7FA2}"/>
              </a:ext>
            </a:extLst>
          </p:cNvPr>
          <p:cNvSpPr/>
          <p:nvPr/>
        </p:nvSpPr>
        <p:spPr>
          <a:xfrm>
            <a:off x="457200" y="1097280"/>
            <a:ext cx="2240280" cy="27889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Model fusion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617220" y="1210071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617437"/>
            <a:ext cx="1920240" cy="682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MobileNetV2 + ResNet50</a:t>
            </a:r>
            <a:endParaRPr lang="en-US" sz="1200" dirty="0">
              <a:solidFill>
                <a:srgbClr val="23262F"/>
              </a:solidFill>
              <a:latin typeface="Calibri"/>
              <a:ea typeface="Calibri"/>
              <a:cs typeface="Calibri"/>
            </a:endParaRP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frozen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1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LR </a:t>
            </a: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1e-4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2610" y="2789112"/>
            <a:ext cx="224028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30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0.909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236161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1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097280"/>
            <a:ext cx="3154680" cy="3657600"/>
          </a:xfrm>
          <a:prstGeom prst="roundRect">
            <a:avLst>
              <a:gd name="adj" fmla="val 3282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202770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Graphs</a:t>
            </a:r>
            <a:endParaRPr sz="1600" b="1" i="0" dirty="0">
              <a:solidFill>
                <a:srgbClr val="F2A33C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12" name="Picture 11" descr="q5a_loss.png"/>
          <p:cNvPicPr>
            <a:picLocks noChangeAspect="1"/>
          </p:cNvPicPr>
          <p:nvPr/>
        </p:nvPicPr>
        <p:blipFill>
          <a:blip r:embed="rId2"/>
          <a:srcRect t="1968"/>
          <a:stretch>
            <a:fillRect/>
          </a:stretch>
        </p:blipFill>
        <p:spPr>
          <a:xfrm>
            <a:off x="3186684" y="1451642"/>
            <a:ext cx="2386584" cy="15937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3ACE663-5B52-3C29-0956-340EBF25D6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0048"/>
          <a:stretch>
            <a:fillRect/>
          </a:stretch>
        </p:blipFill>
        <p:spPr>
          <a:xfrm>
            <a:off x="3186684" y="3104687"/>
            <a:ext cx="2386584" cy="161053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DE68BF7-F3AD-47E3-E51E-65C18A1998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4863" t="5483"/>
          <a:stretch>
            <a:fillRect/>
          </a:stretch>
        </p:blipFill>
        <p:spPr>
          <a:xfrm>
            <a:off x="6341364" y="1456292"/>
            <a:ext cx="2226596" cy="22467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CB1500F3-B800-3BA7-43A4-4B2E2CDA7672}"/>
              </a:ext>
            </a:extLst>
          </p:cNvPr>
          <p:cNvSpPr/>
          <p:nvPr/>
        </p:nvSpPr>
        <p:spPr>
          <a:xfrm>
            <a:off x="2834640" y="1097280"/>
            <a:ext cx="3154680" cy="3657600"/>
          </a:xfrm>
          <a:prstGeom prst="roundRect">
            <a:avLst>
              <a:gd name="adj" fmla="val 3282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Transfer learning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240280" cy="27889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MobileNetV2, frozen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Only the head is trained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1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LR </a:t>
            </a:r>
            <a:r>
              <a:rPr sz="12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1e-4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24028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0.876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1369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202770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Graphs</a:t>
            </a:r>
            <a:endParaRPr sz="1200" b="1" i="0" dirty="0">
              <a:solidFill>
                <a:srgbClr val="F2A33C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832" y="1426819"/>
            <a:ext cx="2522035" cy="176289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35624" y="1097280"/>
            <a:ext cx="2560320" cy="2788920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202770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Confusion matrix</a:t>
            </a:r>
          </a:p>
        </p:txBody>
      </p:sp>
      <p:pic>
        <p:nvPicPr>
          <p:cNvPr id="15" name="Picture 14" descr="q5b_cm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600627"/>
            <a:ext cx="2395727" cy="213282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8213500-AF9A-3B15-B227-E2B1CD555F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735" t="9710"/>
          <a:stretch>
            <a:fillRect/>
          </a:stretch>
        </p:blipFill>
        <p:spPr>
          <a:xfrm>
            <a:off x="3209971" y="3065145"/>
            <a:ext cx="2522034" cy="16993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35E52C09-F3F5-F8CD-1C03-D7CA6B181E06}"/>
              </a:ext>
            </a:extLst>
          </p:cNvPr>
          <p:cNvSpPr/>
          <p:nvPr/>
        </p:nvSpPr>
        <p:spPr>
          <a:xfrm>
            <a:off x="2834640" y="1097280"/>
            <a:ext cx="3154680" cy="3657600"/>
          </a:xfrm>
          <a:prstGeom prst="roundRect">
            <a:avLst>
              <a:gd name="adj" fmla="val 3282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12">
            <a:extLst>
              <a:ext uri="{FF2B5EF4-FFF2-40B4-BE49-F238E27FC236}">
                <a16:creationId xmlns:a16="http://schemas.microsoft.com/office/drawing/2014/main" id="{0470632C-CECA-F792-E0D6-D8CAE0D64624}"/>
              </a:ext>
            </a:extLst>
          </p:cNvPr>
          <p:cNvSpPr/>
          <p:nvPr/>
        </p:nvSpPr>
        <p:spPr>
          <a:xfrm>
            <a:off x="6135624" y="1097280"/>
            <a:ext cx="2560320" cy="2788920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Fine-tuning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240280" cy="2788920"/>
          </a:xfrm>
          <a:prstGeom prst="roundRect">
            <a:avLst>
              <a:gd name="adj" fmla="val 4086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MobileNetV2, top 25 layers unfrozen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Same head as (b)</a:t>
            </a:r>
          </a:p>
          <a:p>
            <a:pPr marL="152400" indent="-152400">
              <a:spcAft>
                <a:spcPts val="480"/>
              </a:spcAft>
              <a:buSzPct val="100000"/>
              <a:buChar char="•"/>
            </a:pPr>
            <a:r>
              <a:rPr sz="1200" b="1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LR </a:t>
            </a:r>
            <a:r>
              <a:rPr sz="1200" b="0" i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1e-5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2240280" cy="552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30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0.897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41369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100" b="0" i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202770"/>
            <a:ext cx="27889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Graphs</a:t>
            </a:r>
            <a:endParaRPr sz="1600" b="1" i="0" dirty="0">
              <a:solidFill>
                <a:srgbClr val="F2A33C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796" y="1448991"/>
            <a:ext cx="2322463" cy="16233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09360" y="1202770"/>
            <a:ext cx="21945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Confusion matrix</a:t>
            </a:r>
          </a:p>
        </p:txBody>
      </p:sp>
      <p:pic>
        <p:nvPicPr>
          <p:cNvPr id="15" name="Picture 14" descr="q5c_cm_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596" y="1600626"/>
            <a:ext cx="2418475" cy="21530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2394D0-02B1-1B84-8AFE-9C6BDB6E8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966" t="10376"/>
          <a:stretch>
            <a:fillRect/>
          </a:stretch>
        </p:blipFill>
        <p:spPr>
          <a:xfrm>
            <a:off x="3186796" y="3105956"/>
            <a:ext cx="2322463" cy="1560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25528FD4-3691-72E9-1D32-EEAFEBBE7B34}"/>
              </a:ext>
            </a:extLst>
          </p:cNvPr>
          <p:cNvSpPr/>
          <p:nvPr/>
        </p:nvSpPr>
        <p:spPr>
          <a:xfrm>
            <a:off x="2734056" y="2577338"/>
            <a:ext cx="2180844" cy="1769364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 Comparison of methods</a:t>
            </a:r>
            <a:endParaRPr lang="en-US" sz="28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595" cy="118872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61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5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5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56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45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Method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Total params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Trainable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 time</a:t>
                      </a:r>
                    </a:p>
                  </a:txBody>
                  <a:tcPr marL="73152" marR="73152" marT="27432" marB="27432" anchor="ctr">
                    <a:solidFill>
                      <a:srgbClr val="232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(a) 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26.7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861 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97F17"/>
                          </a:solidFill>
                          <a:latin typeface="Calibri"/>
                          <a:ea typeface="Calibri"/>
                          <a:cs typeface="Calibri"/>
                        </a:rPr>
                        <a:t>0.909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97F17"/>
                          </a:solidFill>
                          <a:latin typeface="Calibri"/>
                          <a:ea typeface="Calibri"/>
                          <a:cs typeface="Calibri"/>
                        </a:rPr>
                        <a:t>0.910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97F17"/>
                          </a:solidFill>
                          <a:latin typeface="Calibri"/>
                          <a:ea typeface="Calibri"/>
                          <a:cs typeface="Calibri"/>
                        </a:rPr>
                        <a:t>0.909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C97F17"/>
                          </a:solidFill>
                          <a:latin typeface="Calibri"/>
                          <a:ea typeface="Calibri"/>
                          <a:cs typeface="Calibri"/>
                        </a:rPr>
                        <a:t>0.909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125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(b) Transfer learning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2.6 M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333 k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0.876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0.875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0.876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0.875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24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96 s</a:t>
                      </a:r>
                    </a:p>
                  </a:txBody>
                  <a:tcPr marL="73152" marR="73152" marT="27432" marB="27432" anchor="ctr">
                    <a:solidFill>
                      <a:srgbClr val="F1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(c) Fine-tuning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2.6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1.69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0.898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23262F"/>
                          </a:solidFill>
                          <a:latin typeface="Calibri"/>
                          <a:ea typeface="Calibri"/>
                          <a:cs typeface="Calibri"/>
                        </a:rPr>
                        <a:t>98 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2560320"/>
            <a:ext cx="2180844" cy="1769364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" y="2894076"/>
            <a:ext cx="2651760" cy="4787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" y="337286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2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best accuracy, but 10× larger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95144" y="2936494"/>
            <a:ext cx="2651760" cy="4787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6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Cat ↔ dog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9158" y="3381756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2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hardest pair for all methods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D93942-2B12-DF3E-8838-1BF29AA9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358" y="2560320"/>
            <a:ext cx="3481007" cy="1845785"/>
          </a:xfrm>
          <a:prstGeom prst="roundRect">
            <a:avLst>
              <a:gd name="adj" fmla="val 7007"/>
            </a:avLst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Autoencoder — compress and reconstruct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566160" cy="3429000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25880"/>
            <a:ext cx="3287990" cy="2151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sz="14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Objective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Compress images to 32 values and reconstruct them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Show original, latent, reconstruction and MSE</a:t>
            </a:r>
          </a:p>
          <a:p>
            <a:pPr marL="0" indent="0">
              <a:buNone/>
            </a:pPr>
            <a:r>
              <a:rPr sz="1400" b="1" i="0" dirty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Method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60×175 grayscale input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10500 → 256 → 32 → 256 → 10500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MSE loss, Adam, 50 epochs</a:t>
            </a:r>
          </a:p>
          <a:p>
            <a:pPr marL="152400" indent="-152400">
              <a:spcAft>
                <a:spcPts val="520"/>
              </a:spcAft>
              <a:buSzPct val="100000"/>
              <a:buChar char="•"/>
            </a:pP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80/20 train/</a:t>
            </a:r>
            <a:r>
              <a:rPr sz="1300" b="0" i="0" dirty="0" err="1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val</a:t>
            </a:r>
            <a:r>
              <a:rPr sz="1300" b="0" i="0" dirty="0">
                <a:solidFill>
                  <a:srgbClr val="23262F"/>
                </a:solidFill>
                <a:latin typeface="Calibri"/>
                <a:ea typeface="Calibri"/>
                <a:cs typeface="Calibri"/>
              </a:rPr>
              <a:t>, test set for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188720"/>
            <a:ext cx="4526280" cy="3429000"/>
          </a:xfrm>
          <a:prstGeom prst="roundRect">
            <a:avLst>
              <a:gd name="adj" fmla="val 2670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q6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984" y="1449324"/>
            <a:ext cx="3732198" cy="29077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6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20040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reconstruction per class</a:t>
            </a:r>
            <a:endParaRPr lang="en-US" sz="2800"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8229600" cy="1325880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Picture 5" descr="q6_00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31" y="1152144"/>
            <a:ext cx="7716937" cy="12161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2514600"/>
            <a:ext cx="8229600" cy="1325880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 w="9525">
            <a:solidFill>
              <a:srgbClr val="E4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q6_10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531" y="2569464"/>
            <a:ext cx="7716937" cy="1216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913632"/>
            <a:ext cx="1371600" cy="331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0.00053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8374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mean MSE · </a:t>
            </a:r>
            <a:r>
              <a:rPr lang="en-US"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healthy (</a:t>
            </a:r>
            <a:r>
              <a:rPr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00_15</a:t>
            </a:r>
            <a:r>
              <a:rPr lang="en-US"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)</a:t>
            </a:r>
            <a:endParaRPr sz="1000" b="0" i="0" dirty="0">
              <a:solidFill>
                <a:srgbClr val="7C849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4519" y="3913632"/>
            <a:ext cx="1371600" cy="331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800" b="1" i="0">
                <a:solidFill>
                  <a:srgbClr val="F2A33C"/>
                </a:solidFill>
                <a:latin typeface="Cambria"/>
                <a:ea typeface="Cambria"/>
                <a:cs typeface="Cambria"/>
              </a:rPr>
              <a:t>0.00042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51176" y="4237015"/>
            <a:ext cx="129494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mean MSE · </a:t>
            </a:r>
            <a:r>
              <a:rPr lang="en-US"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faulty (</a:t>
            </a:r>
            <a:r>
              <a:rPr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10_15</a:t>
            </a:r>
            <a:r>
              <a:rPr lang="en-US" sz="1000" b="0" i="0" dirty="0">
                <a:solidFill>
                  <a:srgbClr val="7C8494"/>
                </a:solidFill>
                <a:latin typeface="Calibri"/>
                <a:ea typeface="Calibri"/>
                <a:cs typeface="Calibri"/>
              </a:rPr>
              <a:t>)</a:t>
            </a:r>
            <a:endParaRPr sz="1000" b="0" i="0" dirty="0">
              <a:solidFill>
                <a:srgbClr val="7C8494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26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92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1430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trained on auto-annotated L515 frames: mAP50 = 0.92 (mAP50-95 = 0.31) on unseen test video; depth read at the box centre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92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7099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of the load recovered in 100 % of the 150 test frames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76856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54864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92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2768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COCO segmentation + ByteTrack: 14 persons tracked, up to 8 at once, region counting works without any training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 txBox="1"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92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 txBox="1"/>
              <p:nvPr/>
            </p:nvSpPr>
            <p:spPr>
              <a:xfrm>
                <a:off x="1097280" y="2843784"/>
                <a:ext cx="749808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Motor classifier: 98.5 % accuracy (baseline 100 %) with 30 % fewer parameters and </a:t>
                </a:r>
                <a14:m>
                  <m:oMath xmlns:m="http://schemas.openxmlformats.org/officeDocument/2006/math">
                    <m:r>
                      <a:rPr lang="en-US" sz="130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itchFamily="34" charset="-120"/>
                      </a:rPr>
                      <m:t>~</m:t>
                    </m:r>
                  </m:oMath>
                </a14:m>
                <a:r>
                  <a:rPr lang="en-US" sz="130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30 % faster inference</a:t>
                </a:r>
                <a:endParaRPr lang="en-US" sz="1300" dirty="0"/>
              </a:p>
            </p:txBody>
          </p:sp>
        </mc:Choice>
        <mc:Fallback xmlns="">
          <p:sp>
            <p:nvSpPr>
              <p:cNvPr id="14" name="Tex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280" y="2843784"/>
                <a:ext cx="7498080" cy="384048"/>
              </a:xfrm>
              <a:prstGeom prst="rect">
                <a:avLst/>
              </a:prstGeom>
              <a:blipFill>
                <a:blip r:embed="rId3"/>
                <a:stretch>
                  <a:fillRect l="-130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548640" y="3410712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548640" y="3410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92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CIFAR-10: fusion best (90.9 %), fine-tuning 89.7 % at 1/10 the size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F2A33C"/>
          </a:solidFill>
          <a:ln w="12700">
            <a:solidFill>
              <a:srgbClr val="F2A3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232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92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9776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MSE ≈ 0.0005 for both classes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1483</Words>
  <Application>Microsoft Office PowerPoint</Application>
  <PresentationFormat>On-screen Show (16:9)</PresentationFormat>
  <Paragraphs>327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Steenfeldtgj@gmail.com</cp:lastModifiedBy>
  <cp:revision>8</cp:revision>
  <dcterms:created xsi:type="dcterms:W3CDTF">2026-09-29T13:05:39Z</dcterms:created>
  <dcterms:modified xsi:type="dcterms:W3CDTF">2026-10-09T12:45:45Z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cf23d-70b0-4a80-9221-1d774ac27fb2_Enabled">
    <vt:lpwstr>true</vt:lpwstr>
  </property>
  <property fmtid="{D5CDD505-2E9C-101B-9397-08002B2CF9AE}" pid="3" name="MSIP_Label_695cf23d-70b0-4a80-9221-1d774ac27fb2_SetDate">
    <vt:lpwstr>2026-09-29T13:10:33Z</vt:lpwstr>
  </property>
  <property fmtid="{D5CDD505-2E9C-101B-9397-08002B2CF9AE}" pid="4" name="MSIP_Label_695cf23d-70b0-4a80-9221-1d774ac27fb2_Method">
    <vt:lpwstr>Standard</vt:lpwstr>
  </property>
  <property fmtid="{D5CDD505-2E9C-101B-9397-08002B2CF9AE}" pid="5" name="MSIP_Label_695cf23d-70b0-4a80-9221-1d774ac27fb2_Name">
    <vt:lpwstr>Document internal</vt:lpwstr>
  </property>
  <property fmtid="{D5CDD505-2E9C-101B-9397-08002B2CF9AE}" pid="6" name="MSIP_Label_695cf23d-70b0-4a80-9221-1d774ac27fb2_SiteId">
    <vt:lpwstr>8482881e-3699-4b3f-b135-cf4800bc1efb</vt:lpwstr>
  </property>
  <property fmtid="{D5CDD505-2E9C-101B-9397-08002B2CF9AE}" pid="7" name="MSIP_Label_695cf23d-70b0-4a80-9221-1d774ac27fb2_ActionId">
    <vt:lpwstr>a9cadeb7-3fb3-452f-a852-6ece1a581bfc</vt:lpwstr>
  </property>
  <property fmtid="{D5CDD505-2E9C-101B-9397-08002B2CF9AE}" pid="8" name="MSIP_Label_695cf23d-70b0-4a80-9221-1d774ac27fb2_ContentBits">
    <vt:lpwstr>0</vt:lpwstr>
  </property>
  <property fmtid="{D5CDD505-2E9C-101B-9397-08002B2CF9AE}" pid="9" name="MSIP_Label_695cf23d-70b0-4a80-9221-1d774ac27fb2_Tag">
    <vt:lpwstr>10, 3, 0, 1</vt:lpwstr>
  </property>
</Properties>
</file>